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63" r:id="rId3"/>
    <p:sldId id="264" r:id="rId4"/>
    <p:sldId id="267" r:id="rId5"/>
    <p:sldId id="258" r:id="rId6"/>
    <p:sldId id="261" r:id="rId7"/>
    <p:sldId id="262" r:id="rId8"/>
    <p:sldId id="265" r:id="rId9"/>
    <p:sldId id="266" r:id="rId1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3824"/>
    <p:restoredTop sz="76259"/>
  </p:normalViewPr>
  <p:slideViewPr>
    <p:cSldViewPr snapToGrid="0" snapToObjects="1">
      <p:cViewPr varScale="1">
        <p:scale>
          <a:sx n="128" d="100"/>
          <a:sy n="128" d="100"/>
        </p:scale>
        <p:origin x="1176"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074806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Hi everyone, we're Team ASA — Anokh, Samiya, and Aastha — from the MSBA program. Our project is about testing if using machine learning and advanced team efficiency metrics can help bettors find an edge in March Madness betting. We looked at 18 years of tournament data, scraped over a thousand Vegas closing lines, and tested whether our models could beat the betting market.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We scraped pre-tournament championship futures odds from </a:t>
            </a:r>
            <a:r>
              <a:rPr lang="en-US" dirty="0" err="1"/>
              <a:t>Covers.com</a:t>
            </a:r>
            <a:r>
              <a:rPr lang="en-US" dirty="0"/>
              <a:t> for all years in our data set. The market favorite — the team with the lowest odds before Round 1 — has won 7 out of 17 tournaments, or 41 percent of the time. Because futures odds pay out at plus-200 to plus-500, those seven wins generated 1,815 dollars in profit on 1,700 wagered based on real odds.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Conversely, two of our ML models went 0 for 5 on champion prediction for Random Forest and </a:t>
            </a:r>
            <a:r>
              <a:rPr lang="en-US" dirty="0" err="1"/>
              <a:t>XGBoost</a:t>
            </a:r>
            <a:r>
              <a:rPr lang="en-US" dirty="0"/>
              <a:t> in the 2020s. Only the Neural Network got one right — UConn in 2024, which was a one seed. So the market is most efficient at the question fans care about most: who wins the whole thing. Our models add value at the game level, not the futures level. That distinction matters and it directly informed our 2026 pick.</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Based on these trends, we’ve gone with Duke as our favorite, but it’s worth noting the interesting takeaways from our models before the tourney began. </a:t>
            </a:r>
            <a:br>
              <a:rPr lang="en-US" dirty="0"/>
            </a:br>
            <a:br>
              <a:rPr lang="en-US" dirty="0"/>
            </a:br>
            <a:r>
              <a:rPr lang="en-US" dirty="0"/>
              <a:t>- All agreed on Duke being the heavy East favorite</a:t>
            </a:r>
            <a:br>
              <a:rPr lang="en-US" dirty="0"/>
            </a:br>
            <a:r>
              <a:rPr lang="en-US" dirty="0"/>
              <a:t>- All agreed that Florida had paper tiger potential/picked Houston</a:t>
            </a:r>
            <a:br>
              <a:rPr lang="en-US" dirty="0"/>
            </a:br>
            <a:r>
              <a:rPr lang="en-US" dirty="0"/>
              <a:t>- NN a bit of a chaos agent in there between Purdue and Iowa St. predictions</a:t>
            </a:r>
            <a:br>
              <a:rPr lang="en-US" dirty="0"/>
            </a:br>
            <a:r>
              <a:rPr lang="en-US" dirty="0"/>
              <a:t>- For our champion, we chose to go with safe pick based on smart money, but worth noting: all the ML models actually picked Michigan. This is the one area we are deferring to market odds.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also profiled all 18 historical champions to understand what a winner looks like. The typical champion ranks in the top 5 of KenPom efficiency, has a BARTHAG above 0.94, and has a top-10 talent rating. 15 of 18 champions were 1 or 2-seeds. When we compare the 2026 contenders against this profile, Duke matches most closely — they're number 1 in KenPom, number 1 in TALENT, and have the highest BARTHAG in the field. Michigan and Arizona also fit the champion profile but Duke has the edge on every metric. </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We merged four data sources from the Kaggle dataset containing different team efficiency metrics into 1,144 tournament games. Every game becomes 33 differential features: Team A minus Team B on each metric.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We then normalized raw shooting stats within each season because a 35% three-point rate meant something different in 2008 than 2025. Our train-validate-test split is strictly chronological — train on 2008 to 2019, validate on 2021 to 2024, test on 2025. This ensures that no future data ever leaks into training.</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We also independently scraped 1,041 Vegas closing lines from Sports Reference. For the three precent of events that lack Vegas odds, we simply excluded them from the set; they included play-in rounds. </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Here's the accuracy ranking across 309 out-of-sample games from 2021 to 2025. Random Forest leads at 71.2%, but look how tight the range is — the gap between first and last place is only 4.2 percentage points. Everything from picking the higher seed to our most complex ML model lands between 67 and 72 percent. The headline finding is in row 7: Vegas closing lines — the sharpest prediction market in sports, with billions of dollars flowing through it — finish 7th out of 8 methods. </a:t>
            </a:r>
            <a:br>
              <a:rPr lang="en-US" dirty="0"/>
            </a:br>
            <a:br>
              <a:rPr lang="en-US" dirty="0"/>
            </a:br>
            <a:r>
              <a:rPr lang="en-US" dirty="0"/>
              <a:t>Obviously, however, that doesn’t mean that Vegas is failing. It’s worth remembering that Vegas optimizes for point spreads to balance the books, not for predicting who actually wins. With that said though, we still found edges in betting against Vegas money lines.</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is where it gets interesting. We tested a simple strategy: when one of our models disagrees with Vegas about who wins a game, we simulated betting 100 dollars on the model's pick at the actual underdog money line odds. Because we're always picking against Vegas in these spots, we're betting the underdog side, where payouts range from plus-150 to plus-500. Random Forest won 18 out of 32 such bets, generating 955 dollars in profit. Four out of five methods were profitable. The only loser was the Neural Network. The reason this works is that our models identify games where the efficiency gap tells a different story than the point spread. In those disagreement games, the efficiency metrics are right more often than Vegas.</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We want to be transparent about what our models can't do. First, they can't capture real-time factors like injuries, coaching adjustments, or the psychological pressure of single-elimination play. In 2023, every single method we tested got zero out of four Final Four teams correct. Second, our betting results use small sample sizes — 18 to 41 bets per method — with wide confidence intervals. We wouldn't recommend actually wagering based on five years of data. Third, our training data is entirely pre-COVID, and our test data is post-COVID. If the game changed structurally — and there's evidence it did, with higher pace and more three-point attempts — our models may be learning patterns that don't fully apply anymore.</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Thank you for your time. We're happy to take questions about any part of our methodology, our data sources, or our predictions. All of our code is available on our GitHub.</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3864"/>
        </a:solidFill>
        <a:effectLst/>
      </p:bgPr>
    </p:bg>
    <p:spTree>
      <p:nvGrpSpPr>
        <p:cNvPr id="1" name=""/>
        <p:cNvGrpSpPr/>
        <p:nvPr/>
      </p:nvGrpSpPr>
      <p:grpSpPr>
        <a:xfrm>
          <a:off x="0" y="0"/>
          <a:ext cx="0" cy="0"/>
          <a:chOff x="0" y="0"/>
          <a:chExt cx="0" cy="0"/>
        </a:xfrm>
      </p:grpSpPr>
      <p:sp>
        <p:nvSpPr>
          <p:cNvPr id="2" name="Text 0"/>
          <p:cNvSpPr/>
          <p:nvPr/>
        </p:nvSpPr>
        <p:spPr>
          <a:xfrm>
            <a:off x="731520" y="731520"/>
            <a:ext cx="7680960" cy="1332411"/>
          </a:xfrm>
          <a:prstGeom prst="rect">
            <a:avLst/>
          </a:prstGeom>
          <a:noFill/>
          <a:ln/>
        </p:spPr>
        <p:txBody>
          <a:bodyPr wrap="square" rtlCol="0" anchor="t"/>
          <a:lstStyle/>
          <a:p>
            <a:pPr marL="0" indent="0" algn="l">
              <a:lnSpc>
                <a:spcPct val="110000"/>
              </a:lnSpc>
              <a:buNone/>
            </a:pPr>
            <a:r>
              <a:rPr lang="en-US" sz="3200" b="1" dirty="0">
                <a:solidFill>
                  <a:srgbClr val="FFFFFF"/>
                </a:solidFill>
                <a:latin typeface="Arial Black" pitchFamily="34" charset="0"/>
                <a:ea typeface="Arial Black" pitchFamily="34" charset="-122"/>
                <a:cs typeface="Arial Black" pitchFamily="34" charset="-120"/>
              </a:rPr>
              <a:t>HOW TO MAKE MONEY BETTING ON</a:t>
            </a:r>
            <a:r>
              <a:rPr lang="en-US" sz="3200" dirty="0"/>
              <a:t> </a:t>
            </a:r>
            <a:r>
              <a:rPr lang="en-US" sz="3200" b="1" dirty="0">
                <a:solidFill>
                  <a:srgbClr val="FFFFFF"/>
                </a:solidFill>
                <a:latin typeface="Arial Black" pitchFamily="34" charset="0"/>
                <a:ea typeface="Arial Black" pitchFamily="34" charset="-122"/>
                <a:cs typeface="Arial Black" pitchFamily="34" charset="-120"/>
              </a:rPr>
              <a:t>2026 MARCH MADNESS</a:t>
            </a:r>
            <a:endParaRPr lang="en-US" sz="3200" dirty="0"/>
          </a:p>
        </p:txBody>
      </p:sp>
      <p:sp>
        <p:nvSpPr>
          <p:cNvPr id="3" name="Text 1"/>
          <p:cNvSpPr/>
          <p:nvPr/>
        </p:nvSpPr>
        <p:spPr>
          <a:xfrm>
            <a:off x="731520" y="2364374"/>
            <a:ext cx="7680960" cy="875211"/>
          </a:xfrm>
          <a:prstGeom prst="rect">
            <a:avLst/>
          </a:prstGeom>
          <a:noFill/>
          <a:ln/>
        </p:spPr>
        <p:txBody>
          <a:bodyPr wrap="square" rtlCol="0" anchor="ctr"/>
          <a:lstStyle/>
          <a:p>
            <a:pPr marL="0" indent="0" algn="l">
              <a:buNone/>
            </a:pPr>
            <a:r>
              <a:rPr lang="en-US" sz="2200" b="1" dirty="0">
                <a:solidFill>
                  <a:srgbClr val="E8833A"/>
                </a:solidFill>
                <a:latin typeface="Arial" pitchFamily="34" charset="0"/>
                <a:cs typeface="Arial" pitchFamily="34" charset="-120"/>
              </a:rPr>
              <a:t>Can we use machine learning and efficiency metrics to beat the sports bettors at their own game?</a:t>
            </a:r>
            <a:endParaRPr lang="en-US" sz="2200" dirty="0"/>
          </a:p>
        </p:txBody>
      </p:sp>
      <p:sp>
        <p:nvSpPr>
          <p:cNvPr id="5" name="Text 3"/>
          <p:cNvSpPr/>
          <p:nvPr/>
        </p:nvSpPr>
        <p:spPr>
          <a:xfrm>
            <a:off x="731520" y="3540028"/>
            <a:ext cx="4572000" cy="365760"/>
          </a:xfrm>
          <a:prstGeom prst="rect">
            <a:avLst/>
          </a:prstGeom>
          <a:noFill/>
          <a:ln/>
        </p:spPr>
        <p:txBody>
          <a:bodyPr wrap="square" rtlCol="0" anchor="ctr"/>
          <a:lstStyle/>
          <a:p>
            <a:pPr marL="0" indent="0" algn="l">
              <a:buNone/>
            </a:pPr>
            <a:r>
              <a:rPr lang="en-US" sz="1400" dirty="0">
                <a:solidFill>
                  <a:srgbClr val="8888AA"/>
                </a:solidFill>
                <a:latin typeface="Arial" pitchFamily="34" charset="0"/>
                <a:ea typeface="Arial" pitchFamily="34" charset="-122"/>
                <a:cs typeface="Arial" pitchFamily="34" charset="-120"/>
              </a:rPr>
              <a:t>2026 Brandeis Datathon  |  Team ASA</a:t>
            </a:r>
            <a:endParaRPr lang="en-US" sz="1400" dirty="0"/>
          </a:p>
        </p:txBody>
      </p:sp>
      <p:sp>
        <p:nvSpPr>
          <p:cNvPr id="6" name="Text 4"/>
          <p:cNvSpPr/>
          <p:nvPr/>
        </p:nvSpPr>
        <p:spPr>
          <a:xfrm>
            <a:off x="731520" y="3905788"/>
            <a:ext cx="4572000" cy="457200"/>
          </a:xfrm>
          <a:prstGeom prst="rect">
            <a:avLst/>
          </a:prstGeom>
          <a:noFill/>
          <a:ln/>
        </p:spPr>
        <p:txBody>
          <a:bodyPr wrap="square" rtlCol="0" anchor="ctr"/>
          <a:lstStyle/>
          <a:p>
            <a:pPr marL="0" indent="0" algn="l">
              <a:buNone/>
            </a:pPr>
            <a:r>
              <a:rPr lang="en-US" sz="1200" dirty="0">
                <a:solidFill>
                  <a:srgbClr val="8888AA"/>
                </a:solidFill>
                <a:latin typeface="Arial" pitchFamily="34" charset="0"/>
                <a:ea typeface="Arial" pitchFamily="34" charset="-122"/>
                <a:cs typeface="Arial" pitchFamily="34" charset="-120"/>
              </a:rPr>
              <a:t>Anokh Palakurthi  |  Samiya Islam  |  Aastha Chavan</a:t>
            </a:r>
            <a:endParaRPr lang="en-US" sz="1200" dirty="0"/>
          </a:p>
          <a:p>
            <a:pPr marL="0" indent="0" algn="l">
              <a:buNone/>
            </a:pPr>
            <a:r>
              <a:rPr lang="en-US" sz="1200" dirty="0">
                <a:solidFill>
                  <a:srgbClr val="8888AA"/>
                </a:solidFill>
                <a:latin typeface="Arial" pitchFamily="34" charset="0"/>
                <a:ea typeface="Arial" pitchFamily="34" charset="-122"/>
                <a:cs typeface="Arial" pitchFamily="34" charset="-120"/>
              </a:rPr>
              <a:t>Brandeis International Business School</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520" y="365760"/>
            <a:ext cx="7680960" cy="548640"/>
          </a:xfrm>
          <a:prstGeom prst="rect">
            <a:avLst/>
          </a:prstGeom>
          <a:noFill/>
          <a:ln/>
        </p:spPr>
        <p:txBody>
          <a:bodyPr wrap="square" rtlCol="0" anchor="ctr"/>
          <a:lstStyle/>
          <a:p>
            <a:pPr marL="0" indent="0">
              <a:buNone/>
            </a:pPr>
            <a:r>
              <a:rPr lang="en-US" sz="2600" b="1" dirty="0">
                <a:solidFill>
                  <a:srgbClr val="1F3864"/>
                </a:solidFill>
                <a:latin typeface="Arial Black" pitchFamily="34" charset="0"/>
                <a:ea typeface="Arial Black" pitchFamily="34" charset="-122"/>
                <a:cs typeface="Arial Black" pitchFamily="34" charset="-120"/>
              </a:rPr>
              <a:t>FOLLOW THE SMART MONEY ON CHAMPIONS</a:t>
            </a:r>
            <a:endParaRPr lang="en-US" sz="2600" dirty="0"/>
          </a:p>
        </p:txBody>
      </p:sp>
      <p:sp>
        <p:nvSpPr>
          <p:cNvPr id="3" name="Shape 1"/>
          <p:cNvSpPr/>
          <p:nvPr/>
        </p:nvSpPr>
        <p:spPr>
          <a:xfrm>
            <a:off x="731520" y="1097280"/>
            <a:ext cx="3657600" cy="1645920"/>
          </a:xfrm>
          <a:prstGeom prst="rect">
            <a:avLst/>
          </a:prstGeom>
          <a:solidFill>
            <a:srgbClr val="F2F2F2"/>
          </a:solidFill>
          <a:ln/>
          <a:effectLst>
            <a:outerShdw blurRad="50800" dist="25400" dir="8100000" algn="bl" rotWithShape="0">
              <a:srgbClr val="000000">
                <a:alpha val="12000"/>
              </a:srgbClr>
            </a:outerShdw>
          </a:effectLst>
        </p:spPr>
        <p:txBody>
          <a:bodyPr/>
          <a:lstStyle/>
          <a:p>
            <a:endParaRPr lang="en-US"/>
          </a:p>
        </p:txBody>
      </p:sp>
      <p:sp>
        <p:nvSpPr>
          <p:cNvPr id="4" name="Text 2"/>
          <p:cNvSpPr/>
          <p:nvPr/>
        </p:nvSpPr>
        <p:spPr>
          <a:xfrm>
            <a:off x="731520" y="1097280"/>
            <a:ext cx="3657600" cy="914400"/>
          </a:xfrm>
          <a:prstGeom prst="rect">
            <a:avLst/>
          </a:prstGeom>
          <a:noFill/>
          <a:ln/>
        </p:spPr>
        <p:txBody>
          <a:bodyPr wrap="square" rtlCol="0" anchor="b"/>
          <a:lstStyle/>
          <a:p>
            <a:pPr marL="0" indent="0" algn="ctr">
              <a:buNone/>
            </a:pPr>
            <a:r>
              <a:rPr lang="en-US" sz="4400" dirty="0">
                <a:solidFill>
                  <a:srgbClr val="1F3864"/>
                </a:solidFill>
                <a:latin typeface="Arial Black" pitchFamily="34" charset="0"/>
                <a:ea typeface="Arial Black" pitchFamily="34" charset="-122"/>
                <a:cs typeface="Arial Black" pitchFamily="34" charset="-120"/>
              </a:rPr>
              <a:t>7 / 17</a:t>
            </a:r>
            <a:endParaRPr lang="en-US" sz="4400" dirty="0"/>
          </a:p>
        </p:txBody>
      </p:sp>
      <p:sp>
        <p:nvSpPr>
          <p:cNvPr id="5" name="Text 3"/>
          <p:cNvSpPr/>
          <p:nvPr/>
        </p:nvSpPr>
        <p:spPr>
          <a:xfrm>
            <a:off x="731520" y="2011680"/>
            <a:ext cx="3657600" cy="457200"/>
          </a:xfrm>
          <a:prstGeom prst="rect">
            <a:avLst/>
          </a:prstGeom>
          <a:noFill/>
          <a:ln/>
        </p:spPr>
        <p:txBody>
          <a:bodyPr wrap="square" rtlCol="0" anchor="ctr"/>
          <a:lstStyle/>
          <a:p>
            <a:pPr marL="0" indent="0" algn="ctr">
              <a:buNone/>
            </a:pPr>
            <a:r>
              <a:rPr lang="en-US" sz="1400" dirty="0">
                <a:solidFill>
                  <a:srgbClr val="666666"/>
                </a:solidFill>
                <a:latin typeface="Arial" pitchFamily="34" charset="0"/>
                <a:ea typeface="Arial" pitchFamily="34" charset="-122"/>
                <a:cs typeface="Arial" pitchFamily="34" charset="-120"/>
              </a:rPr>
              <a:t>Market favorite wins</a:t>
            </a:r>
            <a:endParaRPr lang="en-US" sz="1400" dirty="0"/>
          </a:p>
        </p:txBody>
      </p:sp>
      <p:sp>
        <p:nvSpPr>
          <p:cNvPr id="6" name="Text 4"/>
          <p:cNvSpPr/>
          <p:nvPr/>
        </p:nvSpPr>
        <p:spPr>
          <a:xfrm>
            <a:off x="731520" y="2377440"/>
            <a:ext cx="3657600" cy="274320"/>
          </a:xfrm>
          <a:prstGeom prst="rect">
            <a:avLst/>
          </a:prstGeom>
          <a:noFill/>
          <a:ln/>
        </p:spPr>
        <p:txBody>
          <a:bodyPr wrap="square" rtlCol="0" anchor="ctr"/>
          <a:lstStyle/>
          <a:p>
            <a:pPr marL="0" indent="0" algn="ctr">
              <a:buNone/>
            </a:pPr>
            <a:r>
              <a:rPr lang="en-US" sz="1200" dirty="0">
                <a:solidFill>
                  <a:srgbClr val="666666"/>
                </a:solidFill>
                <a:latin typeface="Arial" pitchFamily="34" charset="0"/>
                <a:ea typeface="Arial" pitchFamily="34" charset="-122"/>
                <a:cs typeface="Arial" pitchFamily="34" charset="-120"/>
              </a:rPr>
              <a:t>(41.2%)</a:t>
            </a:r>
            <a:endParaRPr lang="en-US" sz="1200" dirty="0"/>
          </a:p>
        </p:txBody>
      </p:sp>
      <p:sp>
        <p:nvSpPr>
          <p:cNvPr id="7" name="Shape 5"/>
          <p:cNvSpPr/>
          <p:nvPr/>
        </p:nvSpPr>
        <p:spPr>
          <a:xfrm>
            <a:off x="4937760" y="1097280"/>
            <a:ext cx="3657600" cy="1645920"/>
          </a:xfrm>
          <a:prstGeom prst="rect">
            <a:avLst/>
          </a:prstGeom>
          <a:solidFill>
            <a:srgbClr val="F2F2F2"/>
          </a:solidFill>
          <a:ln/>
          <a:effectLst>
            <a:outerShdw blurRad="50800" dist="25400" dir="8100000" algn="bl" rotWithShape="0">
              <a:srgbClr val="000000">
                <a:alpha val="12000"/>
              </a:srgbClr>
            </a:outerShdw>
          </a:effectLst>
        </p:spPr>
        <p:txBody>
          <a:bodyPr/>
          <a:lstStyle/>
          <a:p>
            <a:endParaRPr lang="en-US"/>
          </a:p>
        </p:txBody>
      </p:sp>
      <p:sp>
        <p:nvSpPr>
          <p:cNvPr id="8" name="Text 6"/>
          <p:cNvSpPr/>
          <p:nvPr/>
        </p:nvSpPr>
        <p:spPr>
          <a:xfrm>
            <a:off x="4937760" y="1097280"/>
            <a:ext cx="3657600" cy="914400"/>
          </a:xfrm>
          <a:prstGeom prst="rect">
            <a:avLst/>
          </a:prstGeom>
          <a:noFill/>
          <a:ln/>
        </p:spPr>
        <p:txBody>
          <a:bodyPr wrap="square" rtlCol="0" anchor="b"/>
          <a:lstStyle/>
          <a:p>
            <a:pPr marL="0" indent="0" algn="ctr">
              <a:buNone/>
            </a:pPr>
            <a:r>
              <a:rPr lang="en-US" sz="4400" dirty="0">
                <a:solidFill>
                  <a:srgbClr val="2D8B57"/>
                </a:solidFill>
                <a:latin typeface="Arial Black" pitchFamily="34" charset="0"/>
                <a:ea typeface="Arial Black" pitchFamily="34" charset="-122"/>
                <a:cs typeface="Arial Black" pitchFamily="34" charset="-120"/>
              </a:rPr>
              <a:t>+$1,815</a:t>
            </a:r>
            <a:endParaRPr lang="en-US" sz="4400" dirty="0"/>
          </a:p>
        </p:txBody>
      </p:sp>
      <p:sp>
        <p:nvSpPr>
          <p:cNvPr id="9" name="Text 7"/>
          <p:cNvSpPr/>
          <p:nvPr/>
        </p:nvSpPr>
        <p:spPr>
          <a:xfrm>
            <a:off x="4937760" y="2011680"/>
            <a:ext cx="3657600" cy="457200"/>
          </a:xfrm>
          <a:prstGeom prst="rect">
            <a:avLst/>
          </a:prstGeom>
          <a:noFill/>
          <a:ln/>
        </p:spPr>
        <p:txBody>
          <a:bodyPr wrap="square" rtlCol="0" anchor="ctr"/>
          <a:lstStyle/>
          <a:p>
            <a:pPr marL="0" indent="0" algn="ctr">
              <a:buNone/>
            </a:pPr>
            <a:r>
              <a:rPr lang="en-US" sz="1400" dirty="0">
                <a:solidFill>
                  <a:srgbClr val="666666"/>
                </a:solidFill>
                <a:latin typeface="Arial" pitchFamily="34" charset="0"/>
                <a:ea typeface="Arial" pitchFamily="34" charset="-122"/>
                <a:cs typeface="Arial" pitchFamily="34" charset="-120"/>
              </a:rPr>
              <a:t>Net profit on $1,700 wagered</a:t>
            </a:r>
            <a:endParaRPr lang="en-US" sz="1400" dirty="0"/>
          </a:p>
        </p:txBody>
      </p:sp>
      <p:sp>
        <p:nvSpPr>
          <p:cNvPr id="10" name="Text 8"/>
          <p:cNvSpPr/>
          <p:nvPr/>
        </p:nvSpPr>
        <p:spPr>
          <a:xfrm>
            <a:off x="4937760" y="2377440"/>
            <a:ext cx="3657600" cy="274320"/>
          </a:xfrm>
          <a:prstGeom prst="rect">
            <a:avLst/>
          </a:prstGeom>
          <a:noFill/>
          <a:ln/>
        </p:spPr>
        <p:txBody>
          <a:bodyPr wrap="square" rtlCol="0" anchor="ctr"/>
          <a:lstStyle/>
          <a:p>
            <a:pPr marL="0" indent="0" algn="ctr">
              <a:buNone/>
            </a:pPr>
            <a:r>
              <a:rPr lang="en-US" sz="1200" dirty="0">
                <a:solidFill>
                  <a:srgbClr val="666666"/>
                </a:solidFill>
                <a:latin typeface="Arial" pitchFamily="34" charset="0"/>
                <a:ea typeface="Arial" pitchFamily="34" charset="-122"/>
                <a:cs typeface="Arial" pitchFamily="34" charset="-120"/>
              </a:rPr>
              <a:t>(+107% ROI)</a:t>
            </a:r>
            <a:endParaRPr lang="en-US" sz="1200" dirty="0"/>
          </a:p>
        </p:txBody>
      </p:sp>
      <p:sp>
        <p:nvSpPr>
          <p:cNvPr id="11" name="Text 9"/>
          <p:cNvSpPr/>
          <p:nvPr/>
        </p:nvSpPr>
        <p:spPr>
          <a:xfrm>
            <a:off x="731520" y="3108960"/>
            <a:ext cx="7680960" cy="548640"/>
          </a:xfrm>
          <a:prstGeom prst="rect">
            <a:avLst/>
          </a:prstGeom>
          <a:noFill/>
          <a:ln/>
        </p:spPr>
        <p:txBody>
          <a:bodyPr wrap="square" rtlCol="0" anchor="ctr"/>
          <a:lstStyle/>
          <a:p>
            <a:pPr marL="0" indent="0">
              <a:buNone/>
            </a:pPr>
            <a:r>
              <a:rPr lang="en-US" sz="1400" dirty="0">
                <a:solidFill>
                  <a:srgbClr val="333333"/>
                </a:solidFill>
                <a:latin typeface="Arial" pitchFamily="34" charset="0"/>
                <a:ea typeface="Arial" pitchFamily="34" charset="-122"/>
                <a:cs typeface="Arial" pitchFamily="34" charset="-120"/>
              </a:rPr>
              <a:t>Our ML models went 0/5 on champion prediction (RF, XGBoost). Only the Neural Net got one right (UConn 2024).</a:t>
            </a:r>
            <a:endParaRPr lang="en-US" sz="1400" dirty="0"/>
          </a:p>
        </p:txBody>
      </p:sp>
      <p:sp>
        <p:nvSpPr>
          <p:cNvPr id="12" name="Shape 10"/>
          <p:cNvSpPr/>
          <p:nvPr/>
        </p:nvSpPr>
        <p:spPr>
          <a:xfrm>
            <a:off x="731520" y="3749040"/>
            <a:ext cx="7680960" cy="914400"/>
          </a:xfrm>
          <a:prstGeom prst="rect">
            <a:avLst/>
          </a:prstGeom>
          <a:solidFill>
            <a:srgbClr val="1F3864"/>
          </a:solidFill>
          <a:ln/>
        </p:spPr>
        <p:txBody>
          <a:bodyPr/>
          <a:lstStyle/>
          <a:p>
            <a:endParaRPr lang="en-US"/>
          </a:p>
        </p:txBody>
      </p:sp>
      <p:sp>
        <p:nvSpPr>
          <p:cNvPr id="13" name="Text 11"/>
          <p:cNvSpPr/>
          <p:nvPr/>
        </p:nvSpPr>
        <p:spPr>
          <a:xfrm>
            <a:off x="914400" y="3749040"/>
            <a:ext cx="7315200" cy="914400"/>
          </a:xfrm>
          <a:prstGeom prst="rect">
            <a:avLst/>
          </a:prstGeom>
          <a:noFill/>
          <a:ln/>
        </p:spPr>
        <p:txBody>
          <a:bodyPr wrap="square"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The market is most efficient at champion prediction.</a:t>
            </a:r>
            <a:endParaRPr lang="en-US" sz="1600" dirty="0"/>
          </a:p>
          <a:p>
            <a:pPr marL="0" indent="0" algn="ctr">
              <a:buNone/>
            </a:pPr>
            <a:r>
              <a:rPr lang="en-US" sz="1600" b="1" dirty="0">
                <a:solidFill>
                  <a:srgbClr val="FFFFFF"/>
                </a:solidFill>
                <a:latin typeface="Arial" pitchFamily="34" charset="0"/>
                <a:ea typeface="Arial" pitchFamily="34" charset="-122"/>
                <a:cs typeface="Arial" pitchFamily="34" charset="-120"/>
              </a:rPr>
              <a:t>However, models can add value at the game level.</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9">
    <p:bg>
      <p:bgPr>
        <a:solidFill>
          <a:srgbClr val="1F3864"/>
        </a:solidFill>
        <a:effectLst/>
      </p:bgPr>
    </p:bg>
    <p:spTree>
      <p:nvGrpSpPr>
        <p:cNvPr id="1" name=""/>
        <p:cNvGrpSpPr/>
        <p:nvPr/>
      </p:nvGrpSpPr>
      <p:grpSpPr>
        <a:xfrm>
          <a:off x="0" y="0"/>
          <a:ext cx="0" cy="0"/>
          <a:chOff x="0" y="0"/>
          <a:chExt cx="0" cy="0"/>
        </a:xfrm>
      </p:grpSpPr>
      <p:sp>
        <p:nvSpPr>
          <p:cNvPr id="2" name="Text 0"/>
          <p:cNvSpPr/>
          <p:nvPr/>
        </p:nvSpPr>
        <p:spPr>
          <a:xfrm>
            <a:off x="731520" y="274320"/>
            <a:ext cx="7680960" cy="548640"/>
          </a:xfrm>
          <a:prstGeom prst="rect">
            <a:avLst/>
          </a:prstGeom>
          <a:noFill/>
          <a:ln/>
        </p:spPr>
        <p:txBody>
          <a:bodyPr wrap="square" rtlCol="0" anchor="ctr"/>
          <a:lstStyle/>
          <a:p>
            <a:pPr marL="0" indent="0">
              <a:buNone/>
            </a:pPr>
            <a:r>
              <a:rPr lang="en-US" sz="3600" b="1" dirty="0">
                <a:solidFill>
                  <a:srgbClr val="FFFFFF"/>
                </a:solidFill>
                <a:latin typeface="Arial Black" pitchFamily="34" charset="0"/>
                <a:ea typeface="Arial Black" pitchFamily="34" charset="-122"/>
                <a:cs typeface="Arial Black" pitchFamily="34" charset="-120"/>
              </a:rPr>
              <a:t>OUR 2026 PREDICTIONS</a:t>
            </a:r>
            <a:endParaRPr lang="en-US" sz="3600" dirty="0"/>
          </a:p>
        </p:txBody>
      </p:sp>
      <p:sp>
        <p:nvSpPr>
          <p:cNvPr id="4" name="Shape 2"/>
          <p:cNvSpPr/>
          <p:nvPr/>
        </p:nvSpPr>
        <p:spPr>
          <a:xfrm>
            <a:off x="731520" y="1463040"/>
            <a:ext cx="1828800" cy="1371600"/>
          </a:xfrm>
          <a:prstGeom prst="rect">
            <a:avLst/>
          </a:prstGeom>
          <a:solidFill>
            <a:srgbClr val="2A3F6F"/>
          </a:solidFill>
          <a:ln/>
          <a:effectLst>
            <a:outerShdw blurRad="50800" dist="25400" dir="8100000" algn="bl" rotWithShape="0">
              <a:srgbClr val="000000">
                <a:alpha val="12000"/>
              </a:srgbClr>
            </a:outerShdw>
          </a:effectLst>
        </p:spPr>
        <p:txBody>
          <a:bodyPr/>
          <a:lstStyle/>
          <a:p>
            <a:endParaRPr lang="en-US"/>
          </a:p>
        </p:txBody>
      </p:sp>
      <p:sp>
        <p:nvSpPr>
          <p:cNvPr id="8" name="Shape 6"/>
          <p:cNvSpPr/>
          <p:nvPr/>
        </p:nvSpPr>
        <p:spPr>
          <a:xfrm>
            <a:off x="2834640" y="1463040"/>
            <a:ext cx="1828800" cy="1371600"/>
          </a:xfrm>
          <a:prstGeom prst="rect">
            <a:avLst/>
          </a:prstGeom>
          <a:solidFill>
            <a:srgbClr val="2A3F6F"/>
          </a:solidFill>
          <a:ln/>
          <a:effectLst>
            <a:outerShdw blurRad="50800" dist="25400" dir="8100000" algn="bl" rotWithShape="0">
              <a:srgbClr val="000000">
                <a:alpha val="12000"/>
              </a:srgbClr>
            </a:outerShdw>
          </a:effectLst>
        </p:spPr>
        <p:txBody>
          <a:bodyPr/>
          <a:lstStyle/>
          <a:p>
            <a:endParaRPr lang="en-US" dirty="0"/>
          </a:p>
        </p:txBody>
      </p:sp>
      <p:sp>
        <p:nvSpPr>
          <p:cNvPr id="12" name="Shape 10"/>
          <p:cNvSpPr/>
          <p:nvPr/>
        </p:nvSpPr>
        <p:spPr>
          <a:xfrm>
            <a:off x="4937760" y="1463040"/>
            <a:ext cx="1828800" cy="1371600"/>
          </a:xfrm>
          <a:prstGeom prst="rect">
            <a:avLst/>
          </a:prstGeom>
          <a:solidFill>
            <a:srgbClr val="2A3F6F"/>
          </a:solidFill>
          <a:ln/>
          <a:effectLst>
            <a:outerShdw blurRad="50800" dist="25400" dir="8100000" algn="bl" rotWithShape="0">
              <a:srgbClr val="000000">
                <a:alpha val="12000"/>
              </a:srgbClr>
            </a:outerShdw>
          </a:effectLst>
        </p:spPr>
        <p:txBody>
          <a:bodyPr/>
          <a:lstStyle/>
          <a:p>
            <a:endParaRPr lang="en-US"/>
          </a:p>
        </p:txBody>
      </p:sp>
      <p:sp>
        <p:nvSpPr>
          <p:cNvPr id="16" name="Shape 14"/>
          <p:cNvSpPr/>
          <p:nvPr/>
        </p:nvSpPr>
        <p:spPr>
          <a:xfrm>
            <a:off x="6931550" y="1463040"/>
            <a:ext cx="1828800" cy="1371600"/>
          </a:xfrm>
          <a:prstGeom prst="rect">
            <a:avLst/>
          </a:prstGeom>
          <a:solidFill>
            <a:srgbClr val="2A3F6F"/>
          </a:solidFill>
          <a:ln/>
          <a:effectLst>
            <a:outerShdw blurRad="50800" dist="25400" dir="8100000" algn="bl" rotWithShape="0">
              <a:srgbClr val="000000">
                <a:alpha val="12000"/>
              </a:srgbClr>
            </a:outerShdw>
          </a:effectLst>
        </p:spPr>
        <p:txBody>
          <a:bodyPr/>
          <a:lstStyle/>
          <a:p>
            <a:endParaRPr lang="en-US"/>
          </a:p>
        </p:txBody>
      </p:sp>
      <p:sp>
        <p:nvSpPr>
          <p:cNvPr id="21" name="Shape 19"/>
          <p:cNvSpPr/>
          <p:nvPr/>
        </p:nvSpPr>
        <p:spPr>
          <a:xfrm>
            <a:off x="731520" y="3657600"/>
            <a:ext cx="7680960" cy="1097280"/>
          </a:xfrm>
          <a:prstGeom prst="rect">
            <a:avLst/>
          </a:prstGeom>
          <a:solidFill>
            <a:srgbClr val="2A3F6F"/>
          </a:solidFill>
          <a:ln/>
        </p:spPr>
        <p:txBody>
          <a:bodyPr/>
          <a:lstStyle/>
          <a:p>
            <a:endParaRPr lang="en-US"/>
          </a:p>
        </p:txBody>
      </p:sp>
      <p:sp>
        <p:nvSpPr>
          <p:cNvPr id="24" name="Text 3">
            <a:extLst>
              <a:ext uri="{FF2B5EF4-FFF2-40B4-BE49-F238E27FC236}">
                <a16:creationId xmlns:a16="http://schemas.microsoft.com/office/drawing/2014/main" id="{7915AFBA-F99E-98AF-1A24-CB54A37334BB}"/>
              </a:ext>
            </a:extLst>
          </p:cNvPr>
          <p:cNvSpPr/>
          <p:nvPr/>
        </p:nvSpPr>
        <p:spPr>
          <a:xfrm>
            <a:off x="731520" y="1417320"/>
            <a:ext cx="1828800" cy="640080"/>
          </a:xfrm>
          <a:prstGeom prst="rect">
            <a:avLst/>
          </a:prstGeom>
          <a:noFill/>
          <a:ln/>
        </p:spPr>
        <p:txBody>
          <a:bodyPr wrap="square" rtlCol="0" anchor="ctr"/>
          <a:lstStyle/>
          <a:p>
            <a:pPr marL="0" indent="0" algn="ctr">
              <a:buNone/>
            </a:pPr>
            <a:r>
              <a:rPr lang="en-US" sz="2000" dirty="0">
                <a:solidFill>
                  <a:srgbClr val="FFFFFF"/>
                </a:solidFill>
                <a:latin typeface="Arial Black" pitchFamily="34" charset="0"/>
                <a:ea typeface="Arial Black" pitchFamily="34" charset="-122"/>
                <a:cs typeface="Arial Black" pitchFamily="34" charset="-120"/>
              </a:rPr>
              <a:t>DUKE</a:t>
            </a:r>
            <a:endParaRPr lang="en-US" sz="2000" dirty="0"/>
          </a:p>
        </p:txBody>
      </p:sp>
      <p:sp>
        <p:nvSpPr>
          <p:cNvPr id="25" name="Text 4">
            <a:extLst>
              <a:ext uri="{FF2B5EF4-FFF2-40B4-BE49-F238E27FC236}">
                <a16:creationId xmlns:a16="http://schemas.microsoft.com/office/drawing/2014/main" id="{DD3B9F79-0868-F332-FFC1-C976ECDE70F8}"/>
              </a:ext>
            </a:extLst>
          </p:cNvPr>
          <p:cNvSpPr/>
          <p:nvPr/>
        </p:nvSpPr>
        <p:spPr>
          <a:xfrm>
            <a:off x="731520" y="2057400"/>
            <a:ext cx="1828800" cy="365760"/>
          </a:xfrm>
          <a:prstGeom prst="rect">
            <a:avLst/>
          </a:prstGeom>
          <a:noFill/>
          <a:ln/>
        </p:spPr>
        <p:txBody>
          <a:bodyPr wrap="square" rtlCol="0" anchor="ctr"/>
          <a:lstStyle/>
          <a:p>
            <a:pPr marL="0" indent="0" algn="ctr">
              <a:buNone/>
            </a:pPr>
            <a:r>
              <a:rPr lang="en-US" sz="1000" dirty="0">
                <a:solidFill>
                  <a:srgbClr val="AAAACC"/>
                </a:solidFill>
                <a:latin typeface="Arial" pitchFamily="34" charset="0"/>
                <a:ea typeface="Arial" pitchFamily="34" charset="-122"/>
                <a:cs typeface="Arial" pitchFamily="34" charset="-120"/>
              </a:rPr>
              <a:t>1-seed (East)</a:t>
            </a:r>
            <a:endParaRPr lang="en-US" sz="1000" dirty="0"/>
          </a:p>
        </p:txBody>
      </p:sp>
      <p:sp>
        <p:nvSpPr>
          <p:cNvPr id="26" name="Text 5">
            <a:extLst>
              <a:ext uri="{FF2B5EF4-FFF2-40B4-BE49-F238E27FC236}">
                <a16:creationId xmlns:a16="http://schemas.microsoft.com/office/drawing/2014/main" id="{F34611EE-9772-8112-21D5-A36A3D60730A}"/>
              </a:ext>
            </a:extLst>
          </p:cNvPr>
          <p:cNvSpPr/>
          <p:nvPr/>
        </p:nvSpPr>
        <p:spPr>
          <a:xfrm>
            <a:off x="731520" y="2423160"/>
            <a:ext cx="1828800" cy="365760"/>
          </a:xfrm>
          <a:prstGeom prst="rect">
            <a:avLst/>
          </a:prstGeom>
          <a:noFill/>
          <a:ln/>
        </p:spPr>
        <p:txBody>
          <a:bodyPr wrap="square" rtlCol="0" anchor="ctr"/>
          <a:lstStyle/>
          <a:p>
            <a:pPr algn="ctr"/>
            <a:r>
              <a:rPr lang="en-US" sz="1000" b="1" dirty="0">
                <a:solidFill>
                  <a:srgbClr val="E8833A"/>
                </a:solidFill>
                <a:latin typeface="Arial" pitchFamily="34" charset="0"/>
                <a:cs typeface="Arial" pitchFamily="34" charset="-120"/>
              </a:rPr>
              <a:t>All three ML Models picked Duke</a:t>
            </a:r>
            <a:endParaRPr lang="en-US" sz="1000" dirty="0"/>
          </a:p>
        </p:txBody>
      </p:sp>
      <p:sp>
        <p:nvSpPr>
          <p:cNvPr id="27" name="Text 7">
            <a:extLst>
              <a:ext uri="{FF2B5EF4-FFF2-40B4-BE49-F238E27FC236}">
                <a16:creationId xmlns:a16="http://schemas.microsoft.com/office/drawing/2014/main" id="{D48E7FD7-A9D0-6E90-C3A7-A5FD8511E022}"/>
              </a:ext>
            </a:extLst>
          </p:cNvPr>
          <p:cNvSpPr/>
          <p:nvPr/>
        </p:nvSpPr>
        <p:spPr>
          <a:xfrm>
            <a:off x="2834640" y="1417320"/>
            <a:ext cx="1828800" cy="640080"/>
          </a:xfrm>
          <a:prstGeom prst="rect">
            <a:avLst/>
          </a:prstGeom>
          <a:noFill/>
          <a:ln/>
        </p:spPr>
        <p:txBody>
          <a:bodyPr wrap="square" rtlCol="0" anchor="ctr"/>
          <a:lstStyle/>
          <a:p>
            <a:pPr marL="0" indent="0" algn="ctr">
              <a:buNone/>
            </a:pPr>
            <a:r>
              <a:rPr lang="en-US" sz="2000" dirty="0">
                <a:solidFill>
                  <a:srgbClr val="FFFFFF"/>
                </a:solidFill>
                <a:latin typeface="Arial Black" pitchFamily="34" charset="0"/>
                <a:ea typeface="Arial Black" pitchFamily="34" charset="-122"/>
                <a:cs typeface="Arial Black" pitchFamily="34" charset="-120"/>
              </a:rPr>
              <a:t>HOUSTON</a:t>
            </a:r>
            <a:endParaRPr lang="en-US" sz="2000" dirty="0"/>
          </a:p>
        </p:txBody>
      </p:sp>
      <p:sp>
        <p:nvSpPr>
          <p:cNvPr id="28" name="Text 8">
            <a:extLst>
              <a:ext uri="{FF2B5EF4-FFF2-40B4-BE49-F238E27FC236}">
                <a16:creationId xmlns:a16="http://schemas.microsoft.com/office/drawing/2014/main" id="{FD8673AE-2937-607C-215C-D8D00FBB75FA}"/>
              </a:ext>
            </a:extLst>
          </p:cNvPr>
          <p:cNvSpPr/>
          <p:nvPr/>
        </p:nvSpPr>
        <p:spPr>
          <a:xfrm>
            <a:off x="2834640" y="2057400"/>
            <a:ext cx="1828800" cy="365760"/>
          </a:xfrm>
          <a:prstGeom prst="rect">
            <a:avLst/>
          </a:prstGeom>
          <a:noFill/>
          <a:ln/>
        </p:spPr>
        <p:txBody>
          <a:bodyPr wrap="square" rtlCol="0" anchor="ctr"/>
          <a:lstStyle/>
          <a:p>
            <a:pPr marL="0" indent="0" algn="ctr">
              <a:buNone/>
            </a:pPr>
            <a:r>
              <a:rPr lang="en-US" sz="1000" dirty="0">
                <a:solidFill>
                  <a:srgbClr val="AAAACC"/>
                </a:solidFill>
                <a:latin typeface="Arial" pitchFamily="34" charset="0"/>
                <a:ea typeface="Arial" pitchFamily="34" charset="-122"/>
                <a:cs typeface="Arial" pitchFamily="34" charset="-120"/>
              </a:rPr>
              <a:t>2-seed (South)</a:t>
            </a:r>
            <a:endParaRPr lang="en-US" sz="1000" dirty="0"/>
          </a:p>
        </p:txBody>
      </p:sp>
      <p:sp>
        <p:nvSpPr>
          <p:cNvPr id="30" name="Text 11">
            <a:extLst>
              <a:ext uri="{FF2B5EF4-FFF2-40B4-BE49-F238E27FC236}">
                <a16:creationId xmlns:a16="http://schemas.microsoft.com/office/drawing/2014/main" id="{BF74B0DA-1857-1D0D-8808-11BB50400948}"/>
              </a:ext>
            </a:extLst>
          </p:cNvPr>
          <p:cNvSpPr/>
          <p:nvPr/>
        </p:nvSpPr>
        <p:spPr>
          <a:xfrm>
            <a:off x="4937760" y="1417320"/>
            <a:ext cx="1828800" cy="640080"/>
          </a:xfrm>
          <a:prstGeom prst="rect">
            <a:avLst/>
          </a:prstGeom>
          <a:noFill/>
          <a:ln/>
        </p:spPr>
        <p:txBody>
          <a:bodyPr wrap="square" rtlCol="0" anchor="ctr"/>
          <a:lstStyle/>
          <a:p>
            <a:pPr marL="0" indent="0" algn="ctr">
              <a:buNone/>
            </a:pPr>
            <a:r>
              <a:rPr lang="en-US" sz="2000" dirty="0">
                <a:solidFill>
                  <a:srgbClr val="FFFFFF"/>
                </a:solidFill>
                <a:latin typeface="Arial Black" pitchFamily="34" charset="0"/>
                <a:ea typeface="Arial Black" pitchFamily="34" charset="-122"/>
                <a:cs typeface="Arial Black" pitchFamily="34" charset="-120"/>
              </a:rPr>
              <a:t>ARIZONA</a:t>
            </a:r>
            <a:endParaRPr lang="en-US" sz="2000" dirty="0"/>
          </a:p>
        </p:txBody>
      </p:sp>
      <p:sp>
        <p:nvSpPr>
          <p:cNvPr id="31" name="Text 12">
            <a:extLst>
              <a:ext uri="{FF2B5EF4-FFF2-40B4-BE49-F238E27FC236}">
                <a16:creationId xmlns:a16="http://schemas.microsoft.com/office/drawing/2014/main" id="{25944A8F-F8D7-E38C-B6CB-375D6812FA1A}"/>
              </a:ext>
            </a:extLst>
          </p:cNvPr>
          <p:cNvSpPr/>
          <p:nvPr/>
        </p:nvSpPr>
        <p:spPr>
          <a:xfrm>
            <a:off x="4937760" y="2057400"/>
            <a:ext cx="1828800" cy="365760"/>
          </a:xfrm>
          <a:prstGeom prst="rect">
            <a:avLst/>
          </a:prstGeom>
          <a:noFill/>
          <a:ln/>
        </p:spPr>
        <p:txBody>
          <a:bodyPr wrap="square" rtlCol="0" anchor="ctr"/>
          <a:lstStyle/>
          <a:p>
            <a:pPr marL="0" indent="0" algn="ctr">
              <a:buNone/>
            </a:pPr>
            <a:r>
              <a:rPr lang="en-US" sz="1000" dirty="0">
                <a:solidFill>
                  <a:srgbClr val="AAAACC"/>
                </a:solidFill>
                <a:latin typeface="Arial" pitchFamily="34" charset="0"/>
                <a:ea typeface="Arial" pitchFamily="34" charset="-122"/>
                <a:cs typeface="Arial" pitchFamily="34" charset="-120"/>
              </a:rPr>
              <a:t>1-seed (West)</a:t>
            </a:r>
            <a:endParaRPr lang="en-US" sz="1000" dirty="0"/>
          </a:p>
        </p:txBody>
      </p:sp>
      <p:sp>
        <p:nvSpPr>
          <p:cNvPr id="32" name="Text 13">
            <a:extLst>
              <a:ext uri="{FF2B5EF4-FFF2-40B4-BE49-F238E27FC236}">
                <a16:creationId xmlns:a16="http://schemas.microsoft.com/office/drawing/2014/main" id="{43F16DE1-D22D-1BD4-53AB-8216D6ABC022}"/>
              </a:ext>
            </a:extLst>
          </p:cNvPr>
          <p:cNvSpPr/>
          <p:nvPr/>
        </p:nvSpPr>
        <p:spPr>
          <a:xfrm>
            <a:off x="4937760" y="2423160"/>
            <a:ext cx="1828800" cy="365760"/>
          </a:xfrm>
          <a:prstGeom prst="rect">
            <a:avLst/>
          </a:prstGeom>
          <a:noFill/>
          <a:ln/>
        </p:spPr>
        <p:txBody>
          <a:bodyPr wrap="square" rtlCol="0" anchor="ctr"/>
          <a:lstStyle/>
          <a:p>
            <a:pPr marL="0" indent="0" algn="ctr">
              <a:buNone/>
            </a:pPr>
            <a:r>
              <a:rPr lang="en-US" sz="1000" b="1" dirty="0">
                <a:solidFill>
                  <a:schemeClr val="accent2"/>
                </a:solidFill>
                <a:latin typeface="Arial" pitchFamily="34" charset="0"/>
                <a:ea typeface="Arial" pitchFamily="34" charset="-122"/>
                <a:cs typeface="Arial" pitchFamily="34" charset="-120"/>
              </a:rPr>
              <a:t>RF &amp; </a:t>
            </a:r>
            <a:r>
              <a:rPr lang="en-US" sz="1000" b="1" dirty="0" err="1">
                <a:solidFill>
                  <a:schemeClr val="accent2"/>
                </a:solidFill>
                <a:latin typeface="Arial" pitchFamily="34" charset="0"/>
                <a:ea typeface="Arial" pitchFamily="34" charset="-122"/>
                <a:cs typeface="Arial" pitchFamily="34" charset="-120"/>
              </a:rPr>
              <a:t>XGBoost</a:t>
            </a:r>
            <a:r>
              <a:rPr lang="en-US" sz="1000" b="1" dirty="0">
                <a:solidFill>
                  <a:schemeClr val="accent2"/>
                </a:solidFill>
                <a:latin typeface="Arial" pitchFamily="34" charset="0"/>
                <a:ea typeface="Arial" pitchFamily="34" charset="-122"/>
                <a:cs typeface="Arial" pitchFamily="34" charset="-120"/>
              </a:rPr>
              <a:t> picked Arizona, NN picked Purdue</a:t>
            </a:r>
            <a:r>
              <a:rPr lang="en-US" sz="1400" b="1" dirty="0">
                <a:solidFill>
                  <a:schemeClr val="accent2"/>
                </a:solidFill>
                <a:latin typeface="Arial" pitchFamily="34" charset="0"/>
                <a:ea typeface="Arial" pitchFamily="34" charset="-122"/>
                <a:cs typeface="Arial" pitchFamily="34" charset="-120"/>
              </a:rPr>
              <a:t> </a:t>
            </a:r>
            <a:endParaRPr lang="en-US" sz="1400" dirty="0">
              <a:solidFill>
                <a:schemeClr val="accent2"/>
              </a:solidFill>
            </a:endParaRPr>
          </a:p>
        </p:txBody>
      </p:sp>
      <p:sp>
        <p:nvSpPr>
          <p:cNvPr id="33" name="Text 15">
            <a:extLst>
              <a:ext uri="{FF2B5EF4-FFF2-40B4-BE49-F238E27FC236}">
                <a16:creationId xmlns:a16="http://schemas.microsoft.com/office/drawing/2014/main" id="{D5BC393D-3B6E-F413-02EE-5CF95A620F8A}"/>
              </a:ext>
            </a:extLst>
          </p:cNvPr>
          <p:cNvSpPr/>
          <p:nvPr/>
        </p:nvSpPr>
        <p:spPr>
          <a:xfrm>
            <a:off x="7040880" y="1417320"/>
            <a:ext cx="1828800" cy="640080"/>
          </a:xfrm>
          <a:prstGeom prst="rect">
            <a:avLst/>
          </a:prstGeom>
          <a:noFill/>
          <a:ln/>
        </p:spPr>
        <p:txBody>
          <a:bodyPr wrap="square" rtlCol="0" anchor="ctr"/>
          <a:lstStyle/>
          <a:p>
            <a:pPr marL="0" indent="0" algn="ctr">
              <a:buNone/>
            </a:pPr>
            <a:r>
              <a:rPr lang="en-US" sz="2000" dirty="0">
                <a:solidFill>
                  <a:srgbClr val="FFFFFF"/>
                </a:solidFill>
                <a:latin typeface="Arial Black" pitchFamily="34" charset="0"/>
                <a:ea typeface="Arial Black" pitchFamily="34" charset="-122"/>
                <a:cs typeface="Arial Black" pitchFamily="34" charset="-120"/>
              </a:rPr>
              <a:t>MICHIGAN</a:t>
            </a:r>
            <a:endParaRPr lang="en-US" sz="2000" dirty="0"/>
          </a:p>
        </p:txBody>
      </p:sp>
      <p:sp>
        <p:nvSpPr>
          <p:cNvPr id="34" name="Text 16">
            <a:extLst>
              <a:ext uri="{FF2B5EF4-FFF2-40B4-BE49-F238E27FC236}">
                <a16:creationId xmlns:a16="http://schemas.microsoft.com/office/drawing/2014/main" id="{67F4D6E3-C093-64A7-791A-160DA077BF61}"/>
              </a:ext>
            </a:extLst>
          </p:cNvPr>
          <p:cNvSpPr/>
          <p:nvPr/>
        </p:nvSpPr>
        <p:spPr>
          <a:xfrm>
            <a:off x="7040880" y="2057400"/>
            <a:ext cx="1828800" cy="365760"/>
          </a:xfrm>
          <a:prstGeom prst="rect">
            <a:avLst/>
          </a:prstGeom>
          <a:noFill/>
          <a:ln/>
        </p:spPr>
        <p:txBody>
          <a:bodyPr wrap="square" rtlCol="0" anchor="ctr"/>
          <a:lstStyle/>
          <a:p>
            <a:pPr marL="0" indent="0" algn="ctr">
              <a:buNone/>
            </a:pPr>
            <a:r>
              <a:rPr lang="en-US" sz="1000" dirty="0">
                <a:solidFill>
                  <a:srgbClr val="AAAACC"/>
                </a:solidFill>
                <a:latin typeface="Arial" pitchFamily="34" charset="0"/>
                <a:ea typeface="Arial" pitchFamily="34" charset="-122"/>
                <a:cs typeface="Arial" pitchFamily="34" charset="-120"/>
              </a:rPr>
              <a:t>1-seed (Midwest)</a:t>
            </a:r>
            <a:endParaRPr lang="en-US" sz="1000" dirty="0"/>
          </a:p>
        </p:txBody>
      </p:sp>
      <p:sp>
        <p:nvSpPr>
          <p:cNvPr id="35" name="Text 17">
            <a:extLst>
              <a:ext uri="{FF2B5EF4-FFF2-40B4-BE49-F238E27FC236}">
                <a16:creationId xmlns:a16="http://schemas.microsoft.com/office/drawing/2014/main" id="{F900473C-9D0D-2C54-8CAE-1E1ABFA508EC}"/>
              </a:ext>
            </a:extLst>
          </p:cNvPr>
          <p:cNvSpPr/>
          <p:nvPr/>
        </p:nvSpPr>
        <p:spPr>
          <a:xfrm>
            <a:off x="7040880" y="2423160"/>
            <a:ext cx="1828800" cy="365760"/>
          </a:xfrm>
          <a:prstGeom prst="rect">
            <a:avLst/>
          </a:prstGeom>
          <a:noFill/>
          <a:ln/>
        </p:spPr>
        <p:txBody>
          <a:bodyPr wrap="square" rtlCol="0" anchor="ctr"/>
          <a:lstStyle/>
          <a:p>
            <a:pPr marL="0" indent="0" algn="ctr">
              <a:buNone/>
            </a:pPr>
            <a:r>
              <a:rPr lang="en-US" sz="1000" b="1" dirty="0">
                <a:solidFill>
                  <a:srgbClr val="E8833A"/>
                </a:solidFill>
                <a:latin typeface="Arial" pitchFamily="34" charset="0"/>
                <a:ea typeface="Arial" pitchFamily="34" charset="-122"/>
                <a:cs typeface="Arial" pitchFamily="34" charset="-120"/>
              </a:rPr>
              <a:t>RF &amp; </a:t>
            </a:r>
            <a:r>
              <a:rPr lang="en-US" sz="1000" b="1" dirty="0" err="1">
                <a:solidFill>
                  <a:srgbClr val="E8833A"/>
                </a:solidFill>
                <a:latin typeface="Arial" pitchFamily="34" charset="0"/>
                <a:ea typeface="Arial" pitchFamily="34" charset="-122"/>
                <a:cs typeface="Arial" pitchFamily="34" charset="-120"/>
              </a:rPr>
              <a:t>XGBoost</a:t>
            </a:r>
            <a:r>
              <a:rPr lang="en-US" sz="1000" b="1" dirty="0">
                <a:solidFill>
                  <a:srgbClr val="E8833A"/>
                </a:solidFill>
                <a:latin typeface="Arial" pitchFamily="34" charset="0"/>
                <a:ea typeface="Arial" pitchFamily="34" charset="-122"/>
                <a:cs typeface="Arial" pitchFamily="34" charset="-120"/>
              </a:rPr>
              <a:t> picked Michigan. NN picked Iowa St. </a:t>
            </a:r>
            <a:endParaRPr lang="en-US" sz="1000" dirty="0"/>
          </a:p>
        </p:txBody>
      </p:sp>
      <p:sp>
        <p:nvSpPr>
          <p:cNvPr id="36" name="Text 18">
            <a:extLst>
              <a:ext uri="{FF2B5EF4-FFF2-40B4-BE49-F238E27FC236}">
                <a16:creationId xmlns:a16="http://schemas.microsoft.com/office/drawing/2014/main" id="{7F83B3AD-509E-7205-6D1A-973772C68D64}"/>
              </a:ext>
            </a:extLst>
          </p:cNvPr>
          <p:cNvSpPr/>
          <p:nvPr/>
        </p:nvSpPr>
        <p:spPr>
          <a:xfrm>
            <a:off x="731520" y="3200400"/>
            <a:ext cx="7680960" cy="365760"/>
          </a:xfrm>
          <a:prstGeom prst="rect">
            <a:avLst/>
          </a:prstGeom>
          <a:noFill/>
          <a:ln/>
        </p:spPr>
        <p:txBody>
          <a:bodyPr wrap="square" rtlCol="0" anchor="ctr"/>
          <a:lstStyle/>
          <a:p>
            <a:pPr marL="0" indent="0">
              <a:buNone/>
            </a:pPr>
            <a:r>
              <a:rPr lang="en-US" sz="1600" b="1" dirty="0">
                <a:solidFill>
                  <a:srgbClr val="E8833A"/>
                </a:solidFill>
                <a:latin typeface="Arial" pitchFamily="34" charset="0"/>
                <a:ea typeface="Arial" pitchFamily="34" charset="-122"/>
                <a:cs typeface="Arial" pitchFamily="34" charset="-120"/>
              </a:rPr>
              <a:t>CHAMPION</a:t>
            </a:r>
            <a:endParaRPr lang="en-US" sz="1600" dirty="0"/>
          </a:p>
        </p:txBody>
      </p:sp>
      <p:sp>
        <p:nvSpPr>
          <p:cNvPr id="37" name="Text 20">
            <a:extLst>
              <a:ext uri="{FF2B5EF4-FFF2-40B4-BE49-F238E27FC236}">
                <a16:creationId xmlns:a16="http://schemas.microsoft.com/office/drawing/2014/main" id="{D50B8004-2A0F-96E1-D637-7160DC7B7867}"/>
              </a:ext>
            </a:extLst>
          </p:cNvPr>
          <p:cNvSpPr/>
          <p:nvPr/>
        </p:nvSpPr>
        <p:spPr>
          <a:xfrm>
            <a:off x="731520" y="3657600"/>
            <a:ext cx="2743200" cy="1188720"/>
          </a:xfrm>
          <a:prstGeom prst="rect">
            <a:avLst/>
          </a:prstGeom>
          <a:noFill/>
          <a:ln/>
        </p:spPr>
        <p:txBody>
          <a:bodyPr wrap="square" rtlCol="0" anchor="ctr"/>
          <a:lstStyle/>
          <a:p>
            <a:pPr marL="0" indent="0" algn="ctr">
              <a:buNone/>
            </a:pPr>
            <a:r>
              <a:rPr lang="en-US" sz="3600" dirty="0">
                <a:solidFill>
                  <a:srgbClr val="FFFFFF"/>
                </a:solidFill>
                <a:latin typeface="Arial Black" pitchFamily="34" charset="0"/>
                <a:ea typeface="Arial Black" pitchFamily="34" charset="-122"/>
                <a:cs typeface="Arial Black" pitchFamily="34" charset="-120"/>
              </a:rPr>
              <a:t>DUKE</a:t>
            </a:r>
            <a:endParaRPr lang="en-US" sz="3600" dirty="0"/>
          </a:p>
        </p:txBody>
      </p:sp>
      <p:sp>
        <p:nvSpPr>
          <p:cNvPr id="38" name="Text 21">
            <a:extLst>
              <a:ext uri="{FF2B5EF4-FFF2-40B4-BE49-F238E27FC236}">
                <a16:creationId xmlns:a16="http://schemas.microsoft.com/office/drawing/2014/main" id="{D91575DC-5D42-B7D6-16D1-D3075E8F57EA}"/>
              </a:ext>
            </a:extLst>
          </p:cNvPr>
          <p:cNvSpPr/>
          <p:nvPr/>
        </p:nvSpPr>
        <p:spPr>
          <a:xfrm>
            <a:off x="3474720" y="3657600"/>
            <a:ext cx="4754880" cy="1188720"/>
          </a:xfrm>
          <a:prstGeom prst="rect">
            <a:avLst/>
          </a:prstGeom>
          <a:noFill/>
          <a:ln/>
        </p:spPr>
        <p:txBody>
          <a:bodyPr wrap="square" rtlCol="0" anchor="ctr"/>
          <a:lstStyle/>
          <a:p>
            <a:pPr marL="0" indent="0">
              <a:buNone/>
            </a:pPr>
            <a:r>
              <a:rPr lang="en-US" sz="1100" dirty="0">
                <a:solidFill>
                  <a:srgbClr val="CCCCDD"/>
                </a:solidFill>
                <a:latin typeface="Arial" pitchFamily="34" charset="0"/>
                <a:ea typeface="Arial" pitchFamily="34" charset="-122"/>
                <a:cs typeface="Arial" pitchFamily="34" charset="-120"/>
              </a:rPr>
              <a:t>Market co-favorite at +325. </a:t>
            </a:r>
          </a:p>
          <a:p>
            <a:pPr marL="0" indent="0">
              <a:buNone/>
            </a:pPr>
            <a:r>
              <a:rPr lang="en-US" sz="1100" dirty="0">
                <a:solidFill>
                  <a:srgbClr val="CCCCDD"/>
                </a:solidFill>
                <a:latin typeface="Arial" pitchFamily="34" charset="0"/>
                <a:ea typeface="Arial" pitchFamily="34" charset="-122"/>
                <a:cs typeface="Arial" pitchFamily="34" charset="-120"/>
              </a:rPr>
              <a:t>For a one-shot prediction, we defer to market efficiency.</a:t>
            </a:r>
            <a:endParaRPr lang="en-US" sz="1100" dirty="0"/>
          </a:p>
        </p:txBody>
      </p:sp>
      <p:sp>
        <p:nvSpPr>
          <p:cNvPr id="6" name="Text 5">
            <a:extLst>
              <a:ext uri="{FF2B5EF4-FFF2-40B4-BE49-F238E27FC236}">
                <a16:creationId xmlns:a16="http://schemas.microsoft.com/office/drawing/2014/main" id="{24F96EFC-8EC4-0832-1454-D41A583F12D6}"/>
              </a:ext>
            </a:extLst>
          </p:cNvPr>
          <p:cNvSpPr/>
          <p:nvPr/>
        </p:nvSpPr>
        <p:spPr>
          <a:xfrm>
            <a:off x="2834640" y="2423160"/>
            <a:ext cx="1828800" cy="365760"/>
          </a:xfrm>
          <a:prstGeom prst="rect">
            <a:avLst/>
          </a:prstGeom>
          <a:noFill/>
          <a:ln/>
        </p:spPr>
        <p:txBody>
          <a:bodyPr wrap="square" rtlCol="0" anchor="ctr"/>
          <a:lstStyle/>
          <a:p>
            <a:pPr marL="0" indent="0" algn="ctr">
              <a:buNone/>
            </a:pPr>
            <a:r>
              <a:rPr lang="en-US" sz="1000" b="1" dirty="0">
                <a:solidFill>
                  <a:srgbClr val="E8833A"/>
                </a:solidFill>
                <a:latin typeface="Arial" pitchFamily="34" charset="0"/>
                <a:cs typeface="Arial" pitchFamily="34" charset="-120"/>
              </a:rPr>
              <a:t>All three ML Models picked Houston</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31520" y="365760"/>
            <a:ext cx="7680960" cy="548640"/>
          </a:xfrm>
          <a:prstGeom prst="rect">
            <a:avLst/>
          </a:prstGeom>
          <a:noFill/>
          <a:ln/>
        </p:spPr>
        <p:txBody>
          <a:bodyPr wrap="square" rtlCol="0" anchor="ctr"/>
          <a:lstStyle/>
          <a:p>
            <a:pPr marL="0" indent="0">
              <a:buNone/>
            </a:pPr>
            <a:r>
              <a:rPr lang="en-US" sz="2600" b="1" dirty="0">
                <a:solidFill>
                  <a:srgbClr val="1F3864"/>
                </a:solidFill>
                <a:latin typeface="Arial Black" pitchFamily="34" charset="0"/>
                <a:ea typeface="Arial Black" pitchFamily="34" charset="-122"/>
                <a:cs typeface="Arial Black" pitchFamily="34" charset="-120"/>
              </a:rPr>
              <a:t>CHAMPION PROFILE WITH TEAM EFFICIENCY METRICS</a:t>
            </a:r>
            <a:endParaRPr lang="en-US" sz="2600" dirty="0"/>
          </a:p>
        </p:txBody>
      </p:sp>
      <p:sp>
        <p:nvSpPr>
          <p:cNvPr id="3" name="Text 1"/>
          <p:cNvSpPr/>
          <p:nvPr/>
        </p:nvSpPr>
        <p:spPr>
          <a:xfrm>
            <a:off x="731520" y="1005840"/>
            <a:ext cx="7680960" cy="365760"/>
          </a:xfrm>
          <a:prstGeom prst="rect">
            <a:avLst/>
          </a:prstGeom>
          <a:noFill/>
          <a:ln/>
        </p:spPr>
        <p:txBody>
          <a:bodyPr wrap="square" rtlCol="0" anchor="ctr"/>
          <a:lstStyle/>
          <a:p>
            <a:pPr marL="0" indent="0">
              <a:buNone/>
            </a:pPr>
            <a:r>
              <a:rPr lang="en-US" sz="1300" dirty="0">
                <a:solidFill>
                  <a:srgbClr val="666666"/>
                </a:solidFill>
                <a:latin typeface="Arial" pitchFamily="34" charset="0"/>
                <a:ea typeface="Arial" pitchFamily="34" charset="-122"/>
                <a:cs typeface="Arial" pitchFamily="34" charset="-120"/>
              </a:rPr>
              <a:t>We profiled all 18 champions (2008–2025) and compared 2026 contenders to the historical median.</a:t>
            </a:r>
            <a:endParaRPr lang="en-US" sz="1300" dirty="0"/>
          </a:p>
        </p:txBody>
      </p:sp>
      <p:graphicFrame>
        <p:nvGraphicFramePr>
          <p:cNvPr id="10" name="Table 0"/>
          <p:cNvGraphicFramePr>
            <a:graphicFrameLocks noGrp="1"/>
          </p:cNvGraphicFramePr>
          <p:nvPr/>
        </p:nvGraphicFramePr>
        <p:xfrm>
          <a:off x="468354" y="1463040"/>
          <a:ext cx="4036742" cy="2796726"/>
        </p:xfrm>
        <a:graphic>
          <a:graphicData uri="http://schemas.openxmlformats.org/drawingml/2006/table">
            <a:tbl>
              <a:tblPr/>
              <a:tblGrid>
                <a:gridCol w="838566">
                  <a:extLst>
                    <a:ext uri="{9D8B030D-6E8A-4147-A177-3AD203B41FA5}">
                      <a16:colId xmlns:a16="http://schemas.microsoft.com/office/drawing/2014/main" val="20000"/>
                    </a:ext>
                  </a:extLst>
                </a:gridCol>
                <a:gridCol w="772764">
                  <a:extLst>
                    <a:ext uri="{9D8B030D-6E8A-4147-A177-3AD203B41FA5}">
                      <a16:colId xmlns:a16="http://schemas.microsoft.com/office/drawing/2014/main" val="20001"/>
                    </a:ext>
                  </a:extLst>
                </a:gridCol>
                <a:gridCol w="478276">
                  <a:extLst>
                    <a:ext uri="{9D8B030D-6E8A-4147-A177-3AD203B41FA5}">
                      <a16:colId xmlns:a16="http://schemas.microsoft.com/office/drawing/2014/main" val="20002"/>
                    </a:ext>
                  </a:extLst>
                </a:gridCol>
                <a:gridCol w="712367">
                  <a:extLst>
                    <a:ext uri="{9D8B030D-6E8A-4147-A177-3AD203B41FA5}">
                      <a16:colId xmlns:a16="http://schemas.microsoft.com/office/drawing/2014/main" val="20003"/>
                    </a:ext>
                  </a:extLst>
                </a:gridCol>
                <a:gridCol w="668585">
                  <a:extLst>
                    <a:ext uri="{9D8B030D-6E8A-4147-A177-3AD203B41FA5}">
                      <a16:colId xmlns:a16="http://schemas.microsoft.com/office/drawing/2014/main" val="20004"/>
                    </a:ext>
                  </a:extLst>
                </a:gridCol>
                <a:gridCol w="566184">
                  <a:extLst>
                    <a:ext uri="{9D8B030D-6E8A-4147-A177-3AD203B41FA5}">
                      <a16:colId xmlns:a16="http://schemas.microsoft.com/office/drawing/2014/main" val="20005"/>
                    </a:ext>
                  </a:extLst>
                </a:gridCol>
              </a:tblGrid>
              <a:tr h="582651">
                <a:tc>
                  <a:txBody>
                    <a:bodyPr/>
                    <a:lstStyle/>
                    <a:p>
                      <a:pPr marL="0" indent="0">
                        <a:buNone/>
                      </a:pPr>
                      <a:r>
                        <a:rPr lang="en-US" sz="800" b="1" dirty="0">
                          <a:solidFill>
                            <a:srgbClr val="FFFFFF"/>
                          </a:solidFill>
                          <a:latin typeface="Arial" pitchFamily="34" charset="0"/>
                          <a:ea typeface="Arial" pitchFamily="34" charset="-122"/>
                          <a:cs typeface="Arial" pitchFamily="34" charset="-120"/>
                        </a:rPr>
                        <a:t>Metric</a:t>
                      </a:r>
                      <a:endParaRPr lang="en-US" sz="8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3864"/>
                    </a:solidFill>
                  </a:tcPr>
                </a:tc>
                <a:tc>
                  <a:txBody>
                    <a:bodyPr/>
                    <a:lstStyle/>
                    <a:p>
                      <a:pPr marL="0" indent="0">
                        <a:buNone/>
                      </a:pPr>
                      <a:r>
                        <a:rPr lang="en-US" sz="800" b="1" dirty="0">
                          <a:solidFill>
                            <a:srgbClr val="FFFFFF"/>
                          </a:solidFill>
                          <a:latin typeface="Arial" pitchFamily="34" charset="0"/>
                          <a:ea typeface="Arial" pitchFamily="34" charset="-122"/>
                          <a:cs typeface="Arial" pitchFamily="34" charset="-120"/>
                        </a:rPr>
                        <a:t>Champion Median BARTHAG</a:t>
                      </a:r>
                      <a:endParaRPr lang="en-US" sz="8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3864"/>
                    </a:solidFill>
                  </a:tcPr>
                </a:tc>
                <a:tc>
                  <a:txBody>
                    <a:bodyPr/>
                    <a:lstStyle/>
                    <a:p>
                      <a:pPr marL="0" indent="0">
                        <a:buNone/>
                      </a:pPr>
                      <a:r>
                        <a:rPr lang="en-US" sz="800" b="1" dirty="0">
                          <a:solidFill>
                            <a:srgbClr val="FFFFFF"/>
                          </a:solidFill>
                          <a:latin typeface="Arial" pitchFamily="34" charset="0"/>
                          <a:ea typeface="Arial" pitchFamily="34" charset="-122"/>
                          <a:cs typeface="Arial" pitchFamily="34" charset="-120"/>
                        </a:rPr>
                        <a:t>Duke</a:t>
                      </a:r>
                      <a:endParaRPr lang="en-US" sz="8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3864"/>
                    </a:solidFill>
                  </a:tcPr>
                </a:tc>
                <a:tc>
                  <a:txBody>
                    <a:bodyPr/>
                    <a:lstStyle/>
                    <a:p>
                      <a:pPr marL="0" indent="0">
                        <a:buNone/>
                      </a:pPr>
                      <a:r>
                        <a:rPr lang="en-US" sz="800" b="1" dirty="0">
                          <a:solidFill>
                            <a:srgbClr val="FFFFFF"/>
                          </a:solidFill>
                          <a:latin typeface="Arial" pitchFamily="34" charset="0"/>
                          <a:ea typeface="Arial" pitchFamily="34" charset="-122"/>
                          <a:cs typeface="Arial" pitchFamily="34" charset="-120"/>
                        </a:rPr>
                        <a:t>Michigan</a:t>
                      </a:r>
                      <a:endParaRPr lang="en-US" sz="8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3864"/>
                    </a:solidFill>
                  </a:tcPr>
                </a:tc>
                <a:tc>
                  <a:txBody>
                    <a:bodyPr/>
                    <a:lstStyle/>
                    <a:p>
                      <a:pPr marL="0" indent="0">
                        <a:buNone/>
                      </a:pPr>
                      <a:r>
                        <a:rPr lang="en-US" sz="800" b="1" dirty="0">
                          <a:solidFill>
                            <a:srgbClr val="FFFFFF"/>
                          </a:solidFill>
                          <a:latin typeface="Arial" pitchFamily="34" charset="0"/>
                          <a:ea typeface="Arial" pitchFamily="34" charset="-122"/>
                          <a:cs typeface="Arial" pitchFamily="34" charset="-120"/>
                        </a:rPr>
                        <a:t>Arizona</a:t>
                      </a:r>
                      <a:endParaRPr lang="en-US" sz="8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3864"/>
                    </a:solidFill>
                  </a:tcPr>
                </a:tc>
                <a:tc>
                  <a:txBody>
                    <a:bodyPr/>
                    <a:lstStyle/>
                    <a:p>
                      <a:pPr marL="0" indent="0">
                        <a:buNone/>
                      </a:pPr>
                      <a:r>
                        <a:rPr lang="en-US" sz="800" b="1" dirty="0">
                          <a:solidFill>
                            <a:srgbClr val="FFFFFF"/>
                          </a:solidFill>
                          <a:latin typeface="Arial" pitchFamily="34" charset="0"/>
                          <a:ea typeface="Arial" pitchFamily="34" charset="-122"/>
                          <a:cs typeface="Arial" pitchFamily="34" charset="-120"/>
                        </a:rPr>
                        <a:t>Purdue</a:t>
                      </a:r>
                      <a:endParaRPr lang="en-US" sz="8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3864"/>
                    </a:solidFill>
                  </a:tcPr>
                </a:tc>
                <a:extLst>
                  <a:ext uri="{0D108BD9-81ED-4DB2-BD59-A6C34878D82A}">
                    <a16:rowId xmlns:a16="http://schemas.microsoft.com/office/drawing/2014/main" val="10000"/>
                  </a:ext>
                </a:extLst>
              </a:tr>
              <a:tr h="407856">
                <a:tc>
                  <a:txBody>
                    <a:bodyPr/>
                    <a:lstStyle/>
                    <a:p>
                      <a:pPr marL="0" indent="0">
                        <a:buNone/>
                      </a:pPr>
                      <a:r>
                        <a:rPr lang="en-US" sz="800" dirty="0">
                          <a:solidFill>
                            <a:srgbClr val="333333"/>
                          </a:solidFill>
                          <a:latin typeface="Arial" pitchFamily="34" charset="0"/>
                          <a:ea typeface="Arial" pitchFamily="34" charset="-122"/>
                          <a:cs typeface="Arial" pitchFamily="34" charset="-120"/>
                        </a:rPr>
                        <a:t>KenPom Rank</a:t>
                      </a:r>
                      <a:endParaRPr lang="en-US" sz="8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800" dirty="0">
                          <a:solidFill>
                            <a:srgbClr val="333333"/>
                          </a:solidFill>
                          <a:latin typeface="Arial" pitchFamily="34" charset="0"/>
                          <a:ea typeface="Arial" pitchFamily="34" charset="-122"/>
                          <a:cs typeface="Arial" pitchFamily="34" charset="-120"/>
                        </a:rPr>
                        <a:t>Top 5</a:t>
                      </a:r>
                      <a:endParaRPr lang="en-US" sz="8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800" b="1" dirty="0">
                          <a:solidFill>
                            <a:srgbClr val="2D8B57"/>
                          </a:solidFill>
                          <a:latin typeface="Arial" pitchFamily="34" charset="0"/>
                          <a:ea typeface="Arial" pitchFamily="34" charset="-122"/>
                          <a:cs typeface="Arial" pitchFamily="34" charset="-120"/>
                        </a:rPr>
                        <a:t>#1</a:t>
                      </a:r>
                      <a:endParaRPr lang="en-US" sz="8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800" dirty="0">
                          <a:solidFill>
                            <a:srgbClr val="333333"/>
                          </a:solidFill>
                          <a:latin typeface="Arial" pitchFamily="34" charset="0"/>
                          <a:ea typeface="Arial" pitchFamily="34" charset="-122"/>
                          <a:cs typeface="Arial" pitchFamily="34" charset="-120"/>
                        </a:rPr>
                        <a:t>#4</a:t>
                      </a:r>
                      <a:endParaRPr lang="en-US" sz="8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800" dirty="0">
                          <a:solidFill>
                            <a:srgbClr val="333333"/>
                          </a:solidFill>
                          <a:latin typeface="Arial" pitchFamily="34" charset="0"/>
                          <a:ea typeface="Arial" pitchFamily="34" charset="-122"/>
                          <a:cs typeface="Arial" pitchFamily="34" charset="-120"/>
                        </a:rPr>
                        <a:t>#3</a:t>
                      </a:r>
                      <a:endParaRPr lang="en-US" sz="8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800" dirty="0">
                          <a:solidFill>
                            <a:srgbClr val="333333"/>
                          </a:solidFill>
                          <a:latin typeface="Arial" pitchFamily="34" charset="0"/>
                          <a:ea typeface="Arial" pitchFamily="34" charset="-122"/>
                          <a:cs typeface="Arial" pitchFamily="34" charset="-120"/>
                        </a:rPr>
                        <a:t>#6</a:t>
                      </a:r>
                      <a:endParaRPr lang="en-US" sz="8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1"/>
                  </a:ext>
                </a:extLst>
              </a:tr>
              <a:tr h="407856">
                <a:tc>
                  <a:txBody>
                    <a:bodyPr/>
                    <a:lstStyle/>
                    <a:p>
                      <a:pPr marL="0" indent="0">
                        <a:buNone/>
                      </a:pPr>
                      <a:r>
                        <a:rPr lang="en-US" sz="800" dirty="0">
                          <a:solidFill>
                            <a:srgbClr val="333333"/>
                          </a:solidFill>
                          <a:latin typeface="Arial" pitchFamily="34" charset="0"/>
                          <a:ea typeface="Arial" pitchFamily="34" charset="-122"/>
                          <a:cs typeface="Arial" pitchFamily="34" charset="-120"/>
                        </a:rPr>
                        <a:t>BARTHAG</a:t>
                      </a:r>
                      <a:endParaRPr lang="en-US" sz="8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800" dirty="0">
                          <a:solidFill>
                            <a:srgbClr val="333333"/>
                          </a:solidFill>
                          <a:latin typeface="Arial" pitchFamily="34" charset="0"/>
                          <a:ea typeface="Arial" pitchFamily="34" charset="-122"/>
                          <a:cs typeface="Arial" pitchFamily="34" charset="-120"/>
                        </a:rPr>
                        <a:t>&gt; 0.94</a:t>
                      </a:r>
                      <a:endParaRPr lang="en-US" sz="8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800" b="1" dirty="0">
                          <a:solidFill>
                            <a:srgbClr val="2D8B57"/>
                          </a:solidFill>
                          <a:latin typeface="Arial" pitchFamily="34" charset="0"/>
                          <a:ea typeface="Arial" pitchFamily="34" charset="-122"/>
                          <a:cs typeface="Arial" pitchFamily="34" charset="-120"/>
                        </a:rPr>
                        <a:t>#1</a:t>
                      </a:r>
                      <a:endParaRPr lang="en-US" sz="8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800" dirty="0">
                          <a:solidFill>
                            <a:srgbClr val="333333"/>
                          </a:solidFill>
                          <a:latin typeface="Arial" pitchFamily="34" charset="0"/>
                          <a:ea typeface="Arial" pitchFamily="34" charset="-122"/>
                          <a:cs typeface="Arial" pitchFamily="34" charset="-120"/>
                        </a:rPr>
                        <a:t>Top 5</a:t>
                      </a:r>
                      <a:endParaRPr lang="en-US" sz="8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800" dirty="0">
                          <a:solidFill>
                            <a:srgbClr val="333333"/>
                          </a:solidFill>
                          <a:latin typeface="Arial" pitchFamily="34" charset="0"/>
                          <a:ea typeface="Arial" pitchFamily="34" charset="-122"/>
                          <a:cs typeface="Arial" pitchFamily="34" charset="-120"/>
                        </a:rPr>
                        <a:t>Top 5</a:t>
                      </a:r>
                      <a:endParaRPr lang="en-US" sz="8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800" dirty="0">
                          <a:solidFill>
                            <a:srgbClr val="333333"/>
                          </a:solidFill>
                          <a:latin typeface="Arial" pitchFamily="34" charset="0"/>
                          <a:ea typeface="Arial" pitchFamily="34" charset="-122"/>
                          <a:cs typeface="Arial" pitchFamily="34" charset="-120"/>
                        </a:rPr>
                        <a:t>Top 10</a:t>
                      </a:r>
                      <a:endParaRPr lang="en-US" sz="8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2"/>
                  </a:ext>
                </a:extLst>
              </a:tr>
              <a:tr h="407856">
                <a:tc>
                  <a:txBody>
                    <a:bodyPr/>
                    <a:lstStyle/>
                    <a:p>
                      <a:pPr marL="0" indent="0">
                        <a:buNone/>
                      </a:pPr>
                      <a:r>
                        <a:rPr lang="en-US" sz="800" dirty="0">
                          <a:solidFill>
                            <a:srgbClr val="333333"/>
                          </a:solidFill>
                          <a:latin typeface="Arial" pitchFamily="34" charset="0"/>
                          <a:ea typeface="Arial" pitchFamily="34" charset="-122"/>
                          <a:cs typeface="Arial" pitchFamily="34" charset="-120"/>
                        </a:rPr>
                        <a:t>TALENT Rating</a:t>
                      </a:r>
                      <a:endParaRPr lang="en-US" sz="8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800" dirty="0">
                          <a:solidFill>
                            <a:srgbClr val="333333"/>
                          </a:solidFill>
                          <a:latin typeface="Arial" pitchFamily="34" charset="0"/>
                          <a:ea typeface="Arial" pitchFamily="34" charset="-122"/>
                          <a:cs typeface="Arial" pitchFamily="34" charset="-120"/>
                        </a:rPr>
                        <a:t>Top 10</a:t>
                      </a:r>
                      <a:endParaRPr lang="en-US" sz="8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800" b="1" dirty="0">
                          <a:solidFill>
                            <a:srgbClr val="2D8B57"/>
                          </a:solidFill>
                          <a:latin typeface="Arial" pitchFamily="34" charset="0"/>
                          <a:ea typeface="Arial" pitchFamily="34" charset="-122"/>
                          <a:cs typeface="Arial" pitchFamily="34" charset="-120"/>
                        </a:rPr>
                        <a:t>#1</a:t>
                      </a:r>
                      <a:endParaRPr lang="en-US" sz="8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800" dirty="0">
                          <a:solidFill>
                            <a:srgbClr val="333333"/>
                          </a:solidFill>
                          <a:latin typeface="Arial" pitchFamily="34" charset="0"/>
                          <a:ea typeface="Arial" pitchFamily="34" charset="-122"/>
                          <a:cs typeface="Arial" pitchFamily="34" charset="-120"/>
                        </a:rPr>
                        <a:t>Top 10</a:t>
                      </a:r>
                      <a:endParaRPr lang="en-US" sz="8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800" dirty="0">
                          <a:solidFill>
                            <a:srgbClr val="333333"/>
                          </a:solidFill>
                          <a:latin typeface="Arial" pitchFamily="34" charset="0"/>
                          <a:ea typeface="Arial" pitchFamily="34" charset="-122"/>
                          <a:cs typeface="Arial" pitchFamily="34" charset="-120"/>
                        </a:rPr>
                        <a:t>Top 5</a:t>
                      </a:r>
                      <a:endParaRPr lang="en-US" sz="8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800" dirty="0">
                          <a:solidFill>
                            <a:srgbClr val="333333"/>
                          </a:solidFill>
                          <a:latin typeface="Arial" pitchFamily="34" charset="0"/>
                          <a:ea typeface="Arial" pitchFamily="34" charset="-122"/>
                          <a:cs typeface="Arial" pitchFamily="34" charset="-120"/>
                        </a:rPr>
                        <a:t>Top 15</a:t>
                      </a:r>
                      <a:endParaRPr lang="en-US" sz="8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3"/>
                  </a:ext>
                </a:extLst>
              </a:tr>
              <a:tr h="407856">
                <a:tc>
                  <a:txBody>
                    <a:bodyPr/>
                    <a:lstStyle/>
                    <a:p>
                      <a:pPr marL="0" indent="0">
                        <a:buNone/>
                      </a:pPr>
                      <a:r>
                        <a:rPr lang="en-US" sz="800" dirty="0">
                          <a:solidFill>
                            <a:srgbClr val="333333"/>
                          </a:solidFill>
                          <a:latin typeface="Arial" pitchFamily="34" charset="0"/>
                          <a:ea typeface="Arial" pitchFamily="34" charset="-122"/>
                          <a:cs typeface="Arial" pitchFamily="34" charset="-120"/>
                        </a:rPr>
                        <a:t>ELITE SOS</a:t>
                      </a:r>
                      <a:endParaRPr lang="en-US" sz="8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800" dirty="0">
                          <a:solidFill>
                            <a:srgbClr val="333333"/>
                          </a:solidFill>
                          <a:latin typeface="Arial" pitchFamily="34" charset="0"/>
                          <a:ea typeface="Arial" pitchFamily="34" charset="-122"/>
                          <a:cs typeface="Arial" pitchFamily="34" charset="-120"/>
                        </a:rPr>
                        <a:t>Top 20</a:t>
                      </a:r>
                      <a:endParaRPr lang="en-US" sz="8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800" b="1" dirty="0">
                          <a:solidFill>
                            <a:srgbClr val="2D8B57"/>
                          </a:solidFill>
                          <a:latin typeface="Arial" pitchFamily="34" charset="0"/>
                          <a:ea typeface="Arial" pitchFamily="34" charset="-122"/>
                          <a:cs typeface="Arial" pitchFamily="34" charset="-120"/>
                        </a:rPr>
                        <a:t>Top 5</a:t>
                      </a:r>
                      <a:endParaRPr lang="en-US" sz="8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800" dirty="0">
                          <a:solidFill>
                            <a:srgbClr val="333333"/>
                          </a:solidFill>
                          <a:latin typeface="Arial" pitchFamily="34" charset="0"/>
                          <a:ea typeface="Arial" pitchFamily="34" charset="-122"/>
                          <a:cs typeface="Arial" pitchFamily="34" charset="-120"/>
                        </a:rPr>
                        <a:t>Top 10</a:t>
                      </a:r>
                      <a:endParaRPr lang="en-US" sz="8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800" dirty="0">
                          <a:solidFill>
                            <a:srgbClr val="333333"/>
                          </a:solidFill>
                          <a:latin typeface="Arial" pitchFamily="34" charset="0"/>
                          <a:ea typeface="Arial" pitchFamily="34" charset="-122"/>
                          <a:cs typeface="Arial" pitchFamily="34" charset="-120"/>
                        </a:rPr>
                        <a:t>Top 10</a:t>
                      </a:r>
                      <a:endParaRPr lang="en-US" sz="8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800" dirty="0">
                          <a:solidFill>
                            <a:srgbClr val="333333"/>
                          </a:solidFill>
                          <a:latin typeface="Arial" pitchFamily="34" charset="0"/>
                          <a:ea typeface="Arial" pitchFamily="34" charset="-122"/>
                          <a:cs typeface="Arial" pitchFamily="34" charset="-120"/>
                        </a:rPr>
                        <a:t>Top 15</a:t>
                      </a:r>
                      <a:endParaRPr lang="en-US" sz="8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4"/>
                  </a:ext>
                </a:extLst>
              </a:tr>
              <a:tr h="582651">
                <a:tc>
                  <a:txBody>
                    <a:bodyPr/>
                    <a:lstStyle/>
                    <a:p>
                      <a:pPr marL="0" indent="0">
                        <a:buNone/>
                      </a:pPr>
                      <a:r>
                        <a:rPr lang="en-US" sz="800" dirty="0">
                          <a:solidFill>
                            <a:srgbClr val="333333"/>
                          </a:solidFill>
                          <a:latin typeface="Arial" pitchFamily="34" charset="0"/>
                          <a:ea typeface="Arial" pitchFamily="34" charset="-122"/>
                          <a:cs typeface="Arial" pitchFamily="34" charset="-120"/>
                        </a:rPr>
                        <a:t>Experience (EXP)</a:t>
                      </a:r>
                      <a:endParaRPr lang="en-US" sz="8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800" dirty="0">
                          <a:solidFill>
                            <a:srgbClr val="333333"/>
                          </a:solidFill>
                          <a:latin typeface="Arial" pitchFamily="34" charset="0"/>
                          <a:ea typeface="Arial" pitchFamily="34" charset="-122"/>
                          <a:cs typeface="Arial" pitchFamily="34" charset="-120"/>
                        </a:rPr>
                        <a:t>Varies</a:t>
                      </a:r>
                      <a:endParaRPr lang="en-US" sz="8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800" dirty="0">
                          <a:solidFill>
                            <a:srgbClr val="333333"/>
                          </a:solidFill>
                          <a:latin typeface="Arial" pitchFamily="34" charset="0"/>
                          <a:ea typeface="Arial" pitchFamily="34" charset="-122"/>
                          <a:cs typeface="Arial" pitchFamily="34" charset="-120"/>
                        </a:rPr>
                        <a:t>High</a:t>
                      </a:r>
                      <a:endParaRPr lang="en-US" sz="8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800" dirty="0">
                          <a:solidFill>
                            <a:srgbClr val="333333"/>
                          </a:solidFill>
                          <a:latin typeface="Arial" pitchFamily="34" charset="0"/>
                          <a:ea typeface="Arial" pitchFamily="34" charset="-122"/>
                          <a:cs typeface="Arial" pitchFamily="34" charset="-120"/>
                        </a:rPr>
                        <a:t>High</a:t>
                      </a:r>
                      <a:endParaRPr lang="en-US" sz="8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800" dirty="0">
                          <a:solidFill>
                            <a:srgbClr val="333333"/>
                          </a:solidFill>
                          <a:latin typeface="Arial" pitchFamily="34" charset="0"/>
                          <a:ea typeface="Arial" pitchFamily="34" charset="-122"/>
                          <a:cs typeface="Arial" pitchFamily="34" charset="-120"/>
                        </a:rPr>
                        <a:t>Moderate</a:t>
                      </a:r>
                      <a:endParaRPr lang="en-US" sz="8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800" dirty="0">
                          <a:solidFill>
                            <a:srgbClr val="333333"/>
                          </a:solidFill>
                          <a:latin typeface="Arial" pitchFamily="34" charset="0"/>
                          <a:ea typeface="Arial" pitchFamily="34" charset="-122"/>
                          <a:cs typeface="Arial" pitchFamily="34" charset="-120"/>
                        </a:rPr>
                        <a:t>High</a:t>
                      </a:r>
                      <a:endParaRPr lang="en-US" sz="8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pic>
        <p:nvPicPr>
          <p:cNvPr id="9" name="Picture 8" descr="A screen shot of a graph&#10;&#10;AI-generated content may be incorrect.">
            <a:extLst>
              <a:ext uri="{FF2B5EF4-FFF2-40B4-BE49-F238E27FC236}">
                <a16:creationId xmlns:a16="http://schemas.microsoft.com/office/drawing/2014/main" id="{2E4FE974-0D25-B388-F3D9-C10DCD1933F9}"/>
              </a:ext>
            </a:extLst>
          </p:cNvPr>
          <p:cNvPicPr>
            <a:picLocks noChangeAspect="1"/>
          </p:cNvPicPr>
          <p:nvPr/>
        </p:nvPicPr>
        <p:blipFill>
          <a:blip r:embed="rId3"/>
          <a:stretch>
            <a:fillRect/>
          </a:stretch>
        </p:blipFill>
        <p:spPr>
          <a:xfrm>
            <a:off x="4670313" y="1463039"/>
            <a:ext cx="4036742" cy="279672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520" y="365760"/>
            <a:ext cx="7680960" cy="548640"/>
          </a:xfrm>
          <a:prstGeom prst="rect">
            <a:avLst/>
          </a:prstGeom>
          <a:noFill/>
          <a:ln/>
        </p:spPr>
        <p:txBody>
          <a:bodyPr wrap="square" rtlCol="0" anchor="ctr"/>
          <a:lstStyle/>
          <a:p>
            <a:pPr marL="0" indent="0">
              <a:buNone/>
            </a:pPr>
            <a:r>
              <a:rPr lang="en-US" sz="2400" b="1" dirty="0">
                <a:solidFill>
                  <a:srgbClr val="1F3864"/>
                </a:solidFill>
                <a:latin typeface="Arial Black" pitchFamily="34" charset="0"/>
                <a:ea typeface="Arial Black" pitchFamily="34" charset="-122"/>
                <a:cs typeface="Arial Black" pitchFamily="34" charset="-120"/>
              </a:rPr>
              <a:t>BEATING VEGAS - DATA METHODOLOGY</a:t>
            </a:r>
            <a:endParaRPr lang="en-US" sz="2400" dirty="0"/>
          </a:p>
        </p:txBody>
      </p:sp>
      <p:sp>
        <p:nvSpPr>
          <p:cNvPr id="3" name="Shape 1"/>
          <p:cNvSpPr/>
          <p:nvPr/>
        </p:nvSpPr>
        <p:spPr>
          <a:xfrm>
            <a:off x="731520" y="1097280"/>
            <a:ext cx="1828800" cy="1280160"/>
          </a:xfrm>
          <a:prstGeom prst="rect">
            <a:avLst/>
          </a:prstGeom>
          <a:solidFill>
            <a:srgbClr val="F2F2F2"/>
          </a:solidFill>
          <a:ln/>
          <a:effectLst>
            <a:outerShdw blurRad="50800" dist="25400" dir="8100000" algn="bl" rotWithShape="0">
              <a:srgbClr val="000000">
                <a:alpha val="12000"/>
              </a:srgbClr>
            </a:outerShdw>
          </a:effectLst>
        </p:spPr>
        <p:txBody>
          <a:bodyPr/>
          <a:lstStyle/>
          <a:p>
            <a:endParaRPr lang="en-US"/>
          </a:p>
        </p:txBody>
      </p:sp>
      <p:sp>
        <p:nvSpPr>
          <p:cNvPr id="4" name="Text 2"/>
          <p:cNvSpPr/>
          <p:nvPr/>
        </p:nvSpPr>
        <p:spPr>
          <a:xfrm>
            <a:off x="731520" y="1143000"/>
            <a:ext cx="1828800" cy="640080"/>
          </a:xfrm>
          <a:prstGeom prst="rect">
            <a:avLst/>
          </a:prstGeom>
          <a:noFill/>
          <a:ln/>
        </p:spPr>
        <p:txBody>
          <a:bodyPr wrap="square" rtlCol="0" anchor="ctr"/>
          <a:lstStyle/>
          <a:p>
            <a:pPr marL="0" indent="0" algn="ctr">
              <a:buNone/>
            </a:pPr>
            <a:r>
              <a:rPr lang="en-US" sz="2800" dirty="0">
                <a:solidFill>
                  <a:srgbClr val="1F3864"/>
                </a:solidFill>
                <a:latin typeface="Arial Black" pitchFamily="34" charset="0"/>
                <a:ea typeface="Arial Black" pitchFamily="34" charset="-122"/>
                <a:cs typeface="Arial Black" pitchFamily="34" charset="-120"/>
              </a:rPr>
              <a:t>1,144</a:t>
            </a:r>
            <a:endParaRPr lang="en-US" sz="2800" dirty="0"/>
          </a:p>
        </p:txBody>
      </p:sp>
      <p:sp>
        <p:nvSpPr>
          <p:cNvPr id="5" name="Text 3"/>
          <p:cNvSpPr/>
          <p:nvPr/>
        </p:nvSpPr>
        <p:spPr>
          <a:xfrm>
            <a:off x="731520" y="1783080"/>
            <a:ext cx="1828800" cy="548640"/>
          </a:xfrm>
          <a:prstGeom prst="rect">
            <a:avLst/>
          </a:prstGeom>
          <a:noFill/>
          <a:ln/>
        </p:spPr>
        <p:txBody>
          <a:bodyPr wrap="square" rtlCol="0" anchor="t"/>
          <a:lstStyle/>
          <a:p>
            <a:pPr marL="0" indent="0" algn="ctr">
              <a:buNone/>
            </a:pPr>
            <a:r>
              <a:rPr lang="en-US" sz="1100" dirty="0">
                <a:solidFill>
                  <a:srgbClr val="666666"/>
                </a:solidFill>
                <a:latin typeface="Arial" pitchFamily="34" charset="0"/>
                <a:ea typeface="Arial" pitchFamily="34" charset="-122"/>
                <a:cs typeface="Arial" pitchFamily="34" charset="-120"/>
              </a:rPr>
              <a:t>Tournament</a:t>
            </a:r>
            <a:endParaRPr lang="en-US" sz="1100" dirty="0"/>
          </a:p>
          <a:p>
            <a:pPr marL="0" indent="0" algn="ctr">
              <a:buNone/>
            </a:pPr>
            <a:r>
              <a:rPr lang="en-US" sz="1100" dirty="0">
                <a:solidFill>
                  <a:srgbClr val="666666"/>
                </a:solidFill>
                <a:latin typeface="Arial" pitchFamily="34" charset="0"/>
                <a:ea typeface="Arial" pitchFamily="34" charset="-122"/>
                <a:cs typeface="Arial" pitchFamily="34" charset="-120"/>
              </a:rPr>
              <a:t>Games</a:t>
            </a:r>
            <a:endParaRPr lang="en-US" sz="1100" dirty="0"/>
          </a:p>
        </p:txBody>
      </p:sp>
      <p:sp>
        <p:nvSpPr>
          <p:cNvPr id="6" name="Shape 4"/>
          <p:cNvSpPr/>
          <p:nvPr/>
        </p:nvSpPr>
        <p:spPr>
          <a:xfrm>
            <a:off x="2834640" y="1097280"/>
            <a:ext cx="1828800" cy="1280160"/>
          </a:xfrm>
          <a:prstGeom prst="rect">
            <a:avLst/>
          </a:prstGeom>
          <a:solidFill>
            <a:srgbClr val="F2F2F2"/>
          </a:solidFill>
          <a:ln/>
          <a:effectLst>
            <a:outerShdw blurRad="50800" dist="25400" dir="8100000" algn="bl" rotWithShape="0">
              <a:srgbClr val="000000">
                <a:alpha val="12000"/>
              </a:srgbClr>
            </a:outerShdw>
          </a:effectLst>
        </p:spPr>
        <p:txBody>
          <a:bodyPr/>
          <a:lstStyle/>
          <a:p>
            <a:endParaRPr lang="en-US"/>
          </a:p>
        </p:txBody>
      </p:sp>
      <p:sp>
        <p:nvSpPr>
          <p:cNvPr id="7" name="Text 5"/>
          <p:cNvSpPr/>
          <p:nvPr/>
        </p:nvSpPr>
        <p:spPr>
          <a:xfrm>
            <a:off x="2834640" y="1143000"/>
            <a:ext cx="1828800" cy="640080"/>
          </a:xfrm>
          <a:prstGeom prst="rect">
            <a:avLst/>
          </a:prstGeom>
          <a:noFill/>
          <a:ln/>
        </p:spPr>
        <p:txBody>
          <a:bodyPr wrap="square" rtlCol="0" anchor="ctr"/>
          <a:lstStyle/>
          <a:p>
            <a:pPr marL="0" indent="0" algn="ctr">
              <a:buNone/>
            </a:pPr>
            <a:r>
              <a:rPr lang="en-US" sz="2800" dirty="0">
                <a:solidFill>
                  <a:srgbClr val="1F3864"/>
                </a:solidFill>
                <a:latin typeface="Arial Black" pitchFamily="34" charset="0"/>
                <a:ea typeface="Arial Black" pitchFamily="34" charset="-122"/>
                <a:cs typeface="Arial Black" pitchFamily="34" charset="-120"/>
              </a:rPr>
              <a:t>18</a:t>
            </a:r>
            <a:endParaRPr lang="en-US" sz="2800" dirty="0"/>
          </a:p>
        </p:txBody>
      </p:sp>
      <p:sp>
        <p:nvSpPr>
          <p:cNvPr id="8" name="Text 6"/>
          <p:cNvSpPr/>
          <p:nvPr/>
        </p:nvSpPr>
        <p:spPr>
          <a:xfrm>
            <a:off x="2834640" y="1783080"/>
            <a:ext cx="1828800" cy="548640"/>
          </a:xfrm>
          <a:prstGeom prst="rect">
            <a:avLst/>
          </a:prstGeom>
          <a:noFill/>
          <a:ln/>
        </p:spPr>
        <p:txBody>
          <a:bodyPr wrap="square" rtlCol="0" anchor="t"/>
          <a:lstStyle/>
          <a:p>
            <a:pPr marL="0" indent="0" algn="ctr">
              <a:buNone/>
            </a:pPr>
            <a:r>
              <a:rPr lang="en-US" sz="1100" dirty="0">
                <a:solidFill>
                  <a:srgbClr val="666666"/>
                </a:solidFill>
                <a:latin typeface="Arial" pitchFamily="34" charset="0"/>
                <a:ea typeface="Arial" pitchFamily="34" charset="-122"/>
                <a:cs typeface="Arial" pitchFamily="34" charset="-120"/>
              </a:rPr>
              <a:t>Seasons</a:t>
            </a:r>
            <a:endParaRPr lang="en-US" sz="1100" dirty="0"/>
          </a:p>
          <a:p>
            <a:pPr marL="0" indent="0" algn="ctr">
              <a:buNone/>
            </a:pPr>
            <a:r>
              <a:rPr lang="en-US" sz="1100" dirty="0">
                <a:solidFill>
                  <a:srgbClr val="666666"/>
                </a:solidFill>
                <a:latin typeface="Arial" pitchFamily="34" charset="0"/>
                <a:ea typeface="Arial" pitchFamily="34" charset="-122"/>
                <a:cs typeface="Arial" pitchFamily="34" charset="-120"/>
              </a:rPr>
              <a:t>(2008-2025)</a:t>
            </a:r>
            <a:endParaRPr lang="en-US" sz="1100" dirty="0"/>
          </a:p>
        </p:txBody>
      </p:sp>
      <p:sp>
        <p:nvSpPr>
          <p:cNvPr id="9" name="Shape 7"/>
          <p:cNvSpPr/>
          <p:nvPr/>
        </p:nvSpPr>
        <p:spPr>
          <a:xfrm>
            <a:off x="4937760" y="1097280"/>
            <a:ext cx="1828800" cy="1280160"/>
          </a:xfrm>
          <a:prstGeom prst="rect">
            <a:avLst/>
          </a:prstGeom>
          <a:solidFill>
            <a:srgbClr val="F2F2F2"/>
          </a:solidFill>
          <a:ln/>
          <a:effectLst>
            <a:outerShdw blurRad="50800" dist="25400" dir="8100000" algn="bl" rotWithShape="0">
              <a:srgbClr val="000000">
                <a:alpha val="12000"/>
              </a:srgbClr>
            </a:outerShdw>
          </a:effectLst>
        </p:spPr>
        <p:txBody>
          <a:bodyPr/>
          <a:lstStyle/>
          <a:p>
            <a:endParaRPr lang="en-US"/>
          </a:p>
        </p:txBody>
      </p:sp>
      <p:sp>
        <p:nvSpPr>
          <p:cNvPr id="10" name="Text 8"/>
          <p:cNvSpPr/>
          <p:nvPr/>
        </p:nvSpPr>
        <p:spPr>
          <a:xfrm>
            <a:off x="4937760" y="1143000"/>
            <a:ext cx="1828800" cy="640080"/>
          </a:xfrm>
          <a:prstGeom prst="rect">
            <a:avLst/>
          </a:prstGeom>
          <a:noFill/>
          <a:ln/>
        </p:spPr>
        <p:txBody>
          <a:bodyPr wrap="square" rtlCol="0" anchor="ctr"/>
          <a:lstStyle/>
          <a:p>
            <a:pPr marL="0" indent="0" algn="ctr">
              <a:buNone/>
            </a:pPr>
            <a:r>
              <a:rPr lang="en-US" sz="2800" dirty="0">
                <a:solidFill>
                  <a:srgbClr val="1F3864"/>
                </a:solidFill>
                <a:latin typeface="Arial Black" pitchFamily="34" charset="0"/>
                <a:ea typeface="Arial Black" pitchFamily="34" charset="-122"/>
                <a:cs typeface="Arial Black" pitchFamily="34" charset="-120"/>
              </a:rPr>
              <a:t>33</a:t>
            </a:r>
            <a:endParaRPr lang="en-US" sz="2800" dirty="0"/>
          </a:p>
        </p:txBody>
      </p:sp>
      <p:sp>
        <p:nvSpPr>
          <p:cNvPr id="11" name="Text 9"/>
          <p:cNvSpPr/>
          <p:nvPr/>
        </p:nvSpPr>
        <p:spPr>
          <a:xfrm>
            <a:off x="4937760" y="1783080"/>
            <a:ext cx="1828800" cy="548640"/>
          </a:xfrm>
          <a:prstGeom prst="rect">
            <a:avLst/>
          </a:prstGeom>
          <a:noFill/>
          <a:ln/>
        </p:spPr>
        <p:txBody>
          <a:bodyPr wrap="square" rtlCol="0" anchor="t"/>
          <a:lstStyle/>
          <a:p>
            <a:pPr marL="0" indent="0" algn="ctr">
              <a:buNone/>
            </a:pPr>
            <a:r>
              <a:rPr lang="en-US" sz="1100" dirty="0">
                <a:solidFill>
                  <a:srgbClr val="666666"/>
                </a:solidFill>
                <a:latin typeface="Arial" pitchFamily="34" charset="0"/>
                <a:ea typeface="Arial" pitchFamily="34" charset="-122"/>
                <a:cs typeface="Arial" pitchFamily="34" charset="-120"/>
              </a:rPr>
              <a:t>Differential</a:t>
            </a:r>
            <a:endParaRPr lang="en-US" sz="1100" dirty="0"/>
          </a:p>
          <a:p>
            <a:pPr marL="0" indent="0" algn="ctr">
              <a:buNone/>
            </a:pPr>
            <a:r>
              <a:rPr lang="en-US" sz="1100" dirty="0">
                <a:solidFill>
                  <a:srgbClr val="666666"/>
                </a:solidFill>
                <a:latin typeface="Arial" pitchFamily="34" charset="0"/>
                <a:ea typeface="Arial" pitchFamily="34" charset="-122"/>
                <a:cs typeface="Arial" pitchFamily="34" charset="-120"/>
              </a:rPr>
              <a:t>Features</a:t>
            </a:r>
            <a:endParaRPr lang="en-US" sz="1100" dirty="0"/>
          </a:p>
        </p:txBody>
      </p:sp>
      <p:sp>
        <p:nvSpPr>
          <p:cNvPr id="12" name="Shape 10"/>
          <p:cNvSpPr/>
          <p:nvPr/>
        </p:nvSpPr>
        <p:spPr>
          <a:xfrm>
            <a:off x="7040880" y="1097280"/>
            <a:ext cx="1828800" cy="1280160"/>
          </a:xfrm>
          <a:prstGeom prst="rect">
            <a:avLst/>
          </a:prstGeom>
          <a:solidFill>
            <a:srgbClr val="F2F2F2"/>
          </a:solidFill>
          <a:ln/>
          <a:effectLst>
            <a:outerShdw blurRad="50800" dist="25400" dir="8100000" algn="bl" rotWithShape="0">
              <a:srgbClr val="000000">
                <a:alpha val="12000"/>
              </a:srgbClr>
            </a:outerShdw>
          </a:effectLst>
        </p:spPr>
        <p:txBody>
          <a:bodyPr/>
          <a:lstStyle/>
          <a:p>
            <a:endParaRPr lang="en-US"/>
          </a:p>
        </p:txBody>
      </p:sp>
      <p:sp>
        <p:nvSpPr>
          <p:cNvPr id="13" name="Text 11"/>
          <p:cNvSpPr/>
          <p:nvPr/>
        </p:nvSpPr>
        <p:spPr>
          <a:xfrm>
            <a:off x="7040880" y="1143000"/>
            <a:ext cx="1828800" cy="640080"/>
          </a:xfrm>
          <a:prstGeom prst="rect">
            <a:avLst/>
          </a:prstGeom>
          <a:noFill/>
          <a:ln/>
        </p:spPr>
        <p:txBody>
          <a:bodyPr wrap="square" rtlCol="0" anchor="ctr"/>
          <a:lstStyle/>
          <a:p>
            <a:pPr marL="0" indent="0" algn="ctr">
              <a:buNone/>
            </a:pPr>
            <a:r>
              <a:rPr lang="en-US" sz="2800" dirty="0">
                <a:solidFill>
                  <a:srgbClr val="1F3864"/>
                </a:solidFill>
                <a:latin typeface="Arial Black" pitchFamily="34" charset="0"/>
                <a:ea typeface="Arial Black" pitchFamily="34" charset="-122"/>
                <a:cs typeface="Arial Black" pitchFamily="34" charset="-120"/>
              </a:rPr>
              <a:t>1,041</a:t>
            </a:r>
            <a:endParaRPr lang="en-US" sz="2800" dirty="0"/>
          </a:p>
        </p:txBody>
      </p:sp>
      <p:sp>
        <p:nvSpPr>
          <p:cNvPr id="14" name="Text 12"/>
          <p:cNvSpPr/>
          <p:nvPr/>
        </p:nvSpPr>
        <p:spPr>
          <a:xfrm>
            <a:off x="7040880" y="1783080"/>
            <a:ext cx="1828800" cy="548640"/>
          </a:xfrm>
          <a:prstGeom prst="rect">
            <a:avLst/>
          </a:prstGeom>
          <a:noFill/>
          <a:ln/>
        </p:spPr>
        <p:txBody>
          <a:bodyPr wrap="square" rtlCol="0" anchor="t"/>
          <a:lstStyle/>
          <a:p>
            <a:pPr marL="0" indent="0" algn="ctr">
              <a:buNone/>
            </a:pPr>
            <a:r>
              <a:rPr lang="en-US" sz="1100" dirty="0">
                <a:solidFill>
                  <a:srgbClr val="666666"/>
                </a:solidFill>
                <a:latin typeface="Arial" pitchFamily="34" charset="0"/>
                <a:ea typeface="Arial" pitchFamily="34" charset="-122"/>
                <a:cs typeface="Arial" pitchFamily="34" charset="-120"/>
              </a:rPr>
              <a:t>Vegas Lines</a:t>
            </a:r>
            <a:endParaRPr lang="en-US" sz="1100" dirty="0"/>
          </a:p>
          <a:p>
            <a:pPr marL="0" indent="0" algn="ctr">
              <a:buNone/>
            </a:pPr>
            <a:r>
              <a:rPr lang="en-US" sz="1100" dirty="0">
                <a:solidFill>
                  <a:srgbClr val="666666"/>
                </a:solidFill>
                <a:latin typeface="Arial" pitchFamily="34" charset="0"/>
                <a:ea typeface="Arial" pitchFamily="34" charset="-122"/>
                <a:cs typeface="Arial" pitchFamily="34" charset="-120"/>
              </a:rPr>
              <a:t>Scraped</a:t>
            </a:r>
            <a:endParaRPr lang="en-US" sz="1100" dirty="0"/>
          </a:p>
        </p:txBody>
      </p:sp>
      <p:sp>
        <p:nvSpPr>
          <p:cNvPr id="15" name="Text 13"/>
          <p:cNvSpPr/>
          <p:nvPr/>
        </p:nvSpPr>
        <p:spPr>
          <a:xfrm>
            <a:off x="731520" y="2651760"/>
            <a:ext cx="3657600" cy="365760"/>
          </a:xfrm>
          <a:prstGeom prst="rect">
            <a:avLst/>
          </a:prstGeom>
          <a:noFill/>
          <a:ln/>
        </p:spPr>
        <p:txBody>
          <a:bodyPr wrap="square" rtlCol="0" anchor="ctr"/>
          <a:lstStyle/>
          <a:p>
            <a:pPr marL="0" indent="0">
              <a:buNone/>
            </a:pPr>
            <a:r>
              <a:rPr lang="en-US" sz="1600" b="1" dirty="0">
                <a:solidFill>
                  <a:srgbClr val="1F3864"/>
                </a:solidFill>
                <a:latin typeface="Arial" pitchFamily="34" charset="0"/>
                <a:ea typeface="Arial" pitchFamily="34" charset="-122"/>
                <a:cs typeface="Arial" pitchFamily="34" charset="-120"/>
              </a:rPr>
              <a:t>Approach</a:t>
            </a:r>
            <a:endParaRPr lang="en-US" sz="1600" dirty="0"/>
          </a:p>
        </p:txBody>
      </p:sp>
      <p:sp>
        <p:nvSpPr>
          <p:cNvPr id="16" name="Text 14"/>
          <p:cNvSpPr/>
          <p:nvPr/>
        </p:nvSpPr>
        <p:spPr>
          <a:xfrm>
            <a:off x="731520" y="3017520"/>
            <a:ext cx="3840480" cy="1463040"/>
          </a:xfrm>
          <a:prstGeom prst="rect">
            <a:avLst/>
          </a:prstGeom>
          <a:noFill/>
          <a:ln/>
        </p:spPr>
        <p:txBody>
          <a:bodyPr wrap="square" rtlCol="0" anchor="ctr"/>
          <a:lstStyle/>
          <a:p>
            <a:pPr marL="0" indent="0">
              <a:buNone/>
            </a:pPr>
            <a:r>
              <a:rPr lang="en-US" sz="1300" b="1" dirty="0">
                <a:solidFill>
                  <a:srgbClr val="333333"/>
                </a:solidFill>
                <a:latin typeface="Arial" pitchFamily="34" charset="0"/>
                <a:ea typeface="Arial" pitchFamily="34" charset="-122"/>
                <a:cs typeface="Arial" pitchFamily="34" charset="-120"/>
              </a:rPr>
              <a:t>Train: </a:t>
            </a:r>
            <a:r>
              <a:rPr lang="en-US" sz="1300" dirty="0">
                <a:solidFill>
                  <a:srgbClr val="333333"/>
                </a:solidFill>
                <a:latin typeface="Arial" pitchFamily="34" charset="0"/>
                <a:ea typeface="Arial" pitchFamily="34" charset="-122"/>
                <a:cs typeface="Arial" pitchFamily="34" charset="-120"/>
              </a:rPr>
              <a:t>2008–2019 (758 games)</a:t>
            </a:r>
            <a:endParaRPr lang="en-US" sz="1300" dirty="0"/>
          </a:p>
          <a:p>
            <a:pPr marL="0" indent="0">
              <a:buNone/>
            </a:pPr>
            <a:r>
              <a:rPr lang="en-US" sz="1300" b="1" dirty="0">
                <a:solidFill>
                  <a:srgbClr val="333333"/>
                </a:solidFill>
                <a:latin typeface="Arial" pitchFamily="34" charset="0"/>
                <a:ea typeface="Arial" pitchFamily="34" charset="-122"/>
                <a:cs typeface="Arial" pitchFamily="34" charset="-120"/>
              </a:rPr>
              <a:t>Validate: </a:t>
            </a:r>
            <a:r>
              <a:rPr lang="en-US" sz="1300" dirty="0">
                <a:solidFill>
                  <a:srgbClr val="333333"/>
                </a:solidFill>
                <a:latin typeface="Arial" pitchFamily="34" charset="0"/>
                <a:ea typeface="Arial" pitchFamily="34" charset="-122"/>
                <a:cs typeface="Arial" pitchFamily="34" charset="-120"/>
              </a:rPr>
              <a:t>2021–2024 (252 games)</a:t>
            </a:r>
            <a:endParaRPr lang="en-US" sz="1300" dirty="0"/>
          </a:p>
          <a:p>
            <a:pPr marL="0" indent="0">
              <a:buNone/>
            </a:pPr>
            <a:r>
              <a:rPr lang="en-US" sz="1300" b="1" dirty="0">
                <a:solidFill>
                  <a:srgbClr val="333333"/>
                </a:solidFill>
                <a:latin typeface="Arial" pitchFamily="34" charset="0"/>
                <a:ea typeface="Arial" pitchFamily="34" charset="-122"/>
                <a:cs typeface="Arial" pitchFamily="34" charset="-120"/>
              </a:rPr>
              <a:t>Test: </a:t>
            </a:r>
            <a:r>
              <a:rPr lang="en-US" sz="1300" dirty="0">
                <a:solidFill>
                  <a:srgbClr val="333333"/>
                </a:solidFill>
                <a:latin typeface="Arial" pitchFamily="34" charset="0"/>
                <a:ea typeface="Arial" pitchFamily="34" charset="-122"/>
                <a:cs typeface="Arial" pitchFamily="34" charset="-120"/>
              </a:rPr>
              <a:t>2025 (63 games)</a:t>
            </a:r>
            <a:endParaRPr lang="en-US" sz="1300" dirty="0"/>
          </a:p>
          <a:p>
            <a:pPr marL="0" indent="0">
              <a:buNone/>
            </a:pPr>
            <a:r>
              <a:rPr lang="en-US" sz="1300" b="1" dirty="0">
                <a:solidFill>
                  <a:srgbClr val="333333"/>
                </a:solidFill>
                <a:latin typeface="Arial" pitchFamily="34" charset="0"/>
                <a:ea typeface="Arial" pitchFamily="34" charset="-122"/>
                <a:cs typeface="Arial" pitchFamily="34" charset="-120"/>
              </a:rPr>
              <a:t>Deploy: </a:t>
            </a:r>
            <a:r>
              <a:rPr lang="en-US" sz="1300" dirty="0">
                <a:solidFill>
                  <a:srgbClr val="333333"/>
                </a:solidFill>
                <a:latin typeface="Arial" pitchFamily="34" charset="0"/>
                <a:ea typeface="Arial" pitchFamily="34" charset="-122"/>
                <a:cs typeface="Arial" pitchFamily="34" charset="-120"/>
              </a:rPr>
              <a:t>Retrain on all data for 2026 predictions</a:t>
            </a:r>
            <a:endParaRPr lang="en-US" sz="1300" dirty="0"/>
          </a:p>
        </p:txBody>
      </p:sp>
      <p:sp>
        <p:nvSpPr>
          <p:cNvPr id="17" name="Text 15"/>
          <p:cNvSpPr/>
          <p:nvPr/>
        </p:nvSpPr>
        <p:spPr>
          <a:xfrm>
            <a:off x="5029200" y="2651760"/>
            <a:ext cx="3657600" cy="365760"/>
          </a:xfrm>
          <a:prstGeom prst="rect">
            <a:avLst/>
          </a:prstGeom>
          <a:noFill/>
          <a:ln/>
        </p:spPr>
        <p:txBody>
          <a:bodyPr wrap="square" rtlCol="0" anchor="ctr"/>
          <a:lstStyle/>
          <a:p>
            <a:pPr marL="0" indent="0">
              <a:buNone/>
            </a:pPr>
            <a:r>
              <a:rPr lang="en-US" sz="1600" b="1" dirty="0">
                <a:solidFill>
                  <a:srgbClr val="1F3864"/>
                </a:solidFill>
                <a:latin typeface="Arial" pitchFamily="34" charset="0"/>
                <a:ea typeface="Arial" pitchFamily="34" charset="-122"/>
                <a:cs typeface="Arial" pitchFamily="34" charset="-120"/>
              </a:rPr>
              <a:t>Models</a:t>
            </a:r>
            <a:endParaRPr lang="en-US" sz="1600" dirty="0"/>
          </a:p>
        </p:txBody>
      </p:sp>
      <p:sp>
        <p:nvSpPr>
          <p:cNvPr id="18" name="Text 16"/>
          <p:cNvSpPr/>
          <p:nvPr/>
        </p:nvSpPr>
        <p:spPr>
          <a:xfrm>
            <a:off x="5029200" y="3017520"/>
            <a:ext cx="3840480" cy="1463040"/>
          </a:xfrm>
          <a:prstGeom prst="rect">
            <a:avLst/>
          </a:prstGeom>
          <a:noFill/>
          <a:ln/>
        </p:spPr>
        <p:txBody>
          <a:bodyPr wrap="square" rtlCol="0" anchor="ctr"/>
          <a:lstStyle/>
          <a:p>
            <a:pPr marL="0" indent="0">
              <a:buNone/>
            </a:pPr>
            <a:r>
              <a:rPr lang="en-US" sz="1300" b="1" dirty="0">
                <a:solidFill>
                  <a:srgbClr val="333333"/>
                </a:solidFill>
                <a:latin typeface="Arial" pitchFamily="34" charset="0"/>
                <a:ea typeface="Arial" pitchFamily="34" charset="-122"/>
                <a:cs typeface="Arial" pitchFamily="34" charset="-120"/>
              </a:rPr>
              <a:t>ML: </a:t>
            </a:r>
            <a:r>
              <a:rPr lang="en-US" sz="1300" dirty="0">
                <a:solidFill>
                  <a:srgbClr val="333333"/>
                </a:solidFill>
                <a:latin typeface="Arial" pitchFamily="34" charset="0"/>
                <a:ea typeface="Arial" pitchFamily="34" charset="-122"/>
                <a:cs typeface="Arial" pitchFamily="34" charset="-120"/>
              </a:rPr>
              <a:t>XGBoost (regularized), Random Forest, Neural Network</a:t>
            </a:r>
            <a:endParaRPr lang="en-US" sz="1300" dirty="0"/>
          </a:p>
          <a:p>
            <a:pPr marL="0" indent="0">
              <a:buNone/>
            </a:pPr>
            <a:r>
              <a:rPr lang="en-US" sz="1300" b="1" dirty="0">
                <a:solidFill>
                  <a:srgbClr val="333333"/>
                </a:solidFill>
                <a:latin typeface="Arial" pitchFamily="34" charset="0"/>
                <a:ea typeface="Arial" pitchFamily="34" charset="-122"/>
                <a:cs typeface="Arial" pitchFamily="34" charset="-120"/>
              </a:rPr>
              <a:t>Baselines: </a:t>
            </a:r>
            <a:r>
              <a:rPr lang="en-US" sz="1300" dirty="0">
                <a:solidFill>
                  <a:srgbClr val="333333"/>
                </a:solidFill>
                <a:latin typeface="Arial" pitchFamily="34" charset="0"/>
                <a:ea typeface="Arial" pitchFamily="34" charset="-122"/>
                <a:cs typeface="Arial" pitchFamily="34" charset="-120"/>
              </a:rPr>
              <a:t>Chalk (seed), KADJ EM, BARTHAG, TR RATING</a:t>
            </a:r>
            <a:endParaRPr lang="en-US" sz="1300" dirty="0"/>
          </a:p>
          <a:p>
            <a:pPr marL="0" indent="0">
              <a:buNone/>
            </a:pPr>
            <a:r>
              <a:rPr lang="en-US" sz="1300" b="1" dirty="0">
                <a:solidFill>
                  <a:srgbClr val="333333"/>
                </a:solidFill>
                <a:latin typeface="Arial" pitchFamily="34" charset="0"/>
                <a:ea typeface="Arial" pitchFamily="34" charset="-122"/>
                <a:cs typeface="Arial" pitchFamily="34" charset="-120"/>
              </a:rPr>
              <a:t>External: </a:t>
            </a:r>
            <a:r>
              <a:rPr lang="en-US" sz="1300" dirty="0">
                <a:solidFill>
                  <a:srgbClr val="333333"/>
                </a:solidFill>
                <a:latin typeface="Arial" pitchFamily="34" charset="0"/>
                <a:ea typeface="Arial" pitchFamily="34" charset="-122"/>
                <a:cs typeface="Arial" pitchFamily="34" charset="-120"/>
              </a:rPr>
              <a:t>Vegas closing lines from Sports Reference, </a:t>
            </a:r>
            <a:r>
              <a:rPr lang="en-US" sz="1300" dirty="0" err="1">
                <a:solidFill>
                  <a:srgbClr val="333333"/>
                </a:solidFill>
                <a:latin typeface="Arial" pitchFamily="34" charset="0"/>
                <a:ea typeface="Arial" pitchFamily="34" charset="-122"/>
                <a:cs typeface="Arial" pitchFamily="34" charset="-120"/>
              </a:rPr>
              <a:t>Covers.com</a:t>
            </a:r>
            <a:r>
              <a:rPr lang="en-US" sz="1300" dirty="0">
                <a:solidFill>
                  <a:srgbClr val="333333"/>
                </a:solidFill>
                <a:latin typeface="Arial" pitchFamily="34" charset="0"/>
                <a:ea typeface="Arial" pitchFamily="34" charset="-122"/>
                <a:cs typeface="Arial" pitchFamily="34" charset="-120"/>
              </a:rPr>
              <a:t> for futures odds before Round One</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520" y="365760"/>
            <a:ext cx="7680960" cy="548640"/>
          </a:xfrm>
          <a:prstGeom prst="rect">
            <a:avLst/>
          </a:prstGeom>
          <a:noFill/>
          <a:ln/>
        </p:spPr>
        <p:txBody>
          <a:bodyPr wrap="square" rtlCol="0" anchor="ctr"/>
          <a:lstStyle/>
          <a:p>
            <a:pPr marL="0" indent="0">
              <a:buNone/>
            </a:pPr>
            <a:r>
              <a:rPr lang="en-US" sz="2800" b="1" dirty="0">
                <a:solidFill>
                  <a:srgbClr val="1F3864"/>
                </a:solidFill>
                <a:latin typeface="Arial Black" pitchFamily="34" charset="0"/>
                <a:ea typeface="Arial Black" pitchFamily="34" charset="-122"/>
                <a:cs typeface="Arial Black" pitchFamily="34" charset="-120"/>
              </a:rPr>
              <a:t>BEATING VEGAS - MODEL PERFORMANCE ON GAME ACCURACY</a:t>
            </a:r>
            <a:endParaRPr lang="en-US" sz="2800" dirty="0"/>
          </a:p>
        </p:txBody>
      </p:sp>
      <p:sp>
        <p:nvSpPr>
          <p:cNvPr id="3" name="Text 1"/>
          <p:cNvSpPr/>
          <p:nvPr/>
        </p:nvSpPr>
        <p:spPr>
          <a:xfrm>
            <a:off x="731520" y="1005840"/>
            <a:ext cx="7680960" cy="365760"/>
          </a:xfrm>
          <a:prstGeom prst="rect">
            <a:avLst/>
          </a:prstGeom>
          <a:noFill/>
          <a:ln/>
        </p:spPr>
        <p:txBody>
          <a:bodyPr wrap="square" rtlCol="0" anchor="ctr"/>
          <a:lstStyle/>
          <a:p>
            <a:pPr marL="0" indent="0">
              <a:buNone/>
            </a:pPr>
            <a:r>
              <a:rPr lang="en-US" sz="1400" dirty="0">
                <a:solidFill>
                  <a:srgbClr val="666666"/>
                </a:solidFill>
                <a:latin typeface="Arial" pitchFamily="34" charset="0"/>
                <a:ea typeface="Arial" pitchFamily="34" charset="-122"/>
                <a:cs typeface="Arial" pitchFamily="34" charset="-120"/>
              </a:rPr>
              <a:t>Out-of-Sample Accuracy (2021–2025, 309 games)</a:t>
            </a:r>
            <a:endParaRPr lang="en-US" sz="14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731520" y="1371600"/>
          <a:ext cx="7680960" cy="2660904"/>
        </p:xfrm>
        <a:graphic>
          <a:graphicData uri="http://schemas.openxmlformats.org/drawingml/2006/table">
            <a:tbl>
              <a:tblPr/>
              <a:tblGrid>
                <a:gridCol w="73152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gridCol w="2560320">
                  <a:extLst>
                    <a:ext uri="{9D8B030D-6E8A-4147-A177-3AD203B41FA5}">
                      <a16:colId xmlns:a16="http://schemas.microsoft.com/office/drawing/2014/main" val="20003"/>
                    </a:ext>
                  </a:extLst>
                </a:gridCol>
              </a:tblGrid>
              <a:tr h="320040">
                <a:tc>
                  <a:txBody>
                    <a:bodyPr/>
                    <a:lstStyle/>
                    <a:p>
                      <a:pPr marL="0" indent="0">
                        <a:buNone/>
                      </a:pPr>
                      <a:r>
                        <a:rPr lang="en-US" sz="1200" b="1" dirty="0">
                          <a:solidFill>
                            <a:srgbClr val="FFFFFF"/>
                          </a:solidFill>
                          <a:latin typeface="Arial" pitchFamily="34" charset="0"/>
                          <a:ea typeface="Arial" pitchFamily="34" charset="-122"/>
                          <a:cs typeface="Arial" pitchFamily="34" charset="-120"/>
                        </a:rPr>
                        <a:t>Rank</a:t>
                      </a:r>
                      <a:endParaRPr lang="en-US" sz="12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3864"/>
                    </a:solidFill>
                  </a:tcPr>
                </a:tc>
                <a:tc>
                  <a:txBody>
                    <a:bodyPr/>
                    <a:lstStyle/>
                    <a:p>
                      <a:pPr marL="0" indent="0">
                        <a:buNone/>
                      </a:pPr>
                      <a:r>
                        <a:rPr lang="en-US" sz="1200" b="1" dirty="0">
                          <a:solidFill>
                            <a:srgbClr val="FFFFFF"/>
                          </a:solidFill>
                          <a:latin typeface="Arial" pitchFamily="34" charset="0"/>
                          <a:ea typeface="Arial" pitchFamily="34" charset="-122"/>
                          <a:cs typeface="Arial" pitchFamily="34" charset="-120"/>
                        </a:rPr>
                        <a:t>Method</a:t>
                      </a:r>
                      <a:endParaRPr lang="en-US" sz="12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3864"/>
                    </a:solidFill>
                  </a:tcPr>
                </a:tc>
                <a:tc>
                  <a:txBody>
                    <a:bodyPr/>
                    <a:lstStyle/>
                    <a:p>
                      <a:pPr marL="0" indent="0">
                        <a:buNone/>
                      </a:pPr>
                      <a:r>
                        <a:rPr lang="en-US" sz="1200" b="1" dirty="0">
                          <a:solidFill>
                            <a:srgbClr val="FFFFFF"/>
                          </a:solidFill>
                          <a:latin typeface="Arial" pitchFamily="34" charset="0"/>
                          <a:ea typeface="Arial" pitchFamily="34" charset="-122"/>
                          <a:cs typeface="Arial" pitchFamily="34" charset="-120"/>
                        </a:rPr>
                        <a:t>Accuracy</a:t>
                      </a:r>
                      <a:endParaRPr lang="en-US" sz="12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3864"/>
                    </a:solidFill>
                  </a:tcPr>
                </a:tc>
                <a:tc>
                  <a:txBody>
                    <a:bodyPr/>
                    <a:lstStyle/>
                    <a:p>
                      <a:pPr marL="0" indent="0">
                        <a:buNone/>
                      </a:pPr>
                      <a:r>
                        <a:rPr lang="en-US" sz="1200" b="1" dirty="0">
                          <a:solidFill>
                            <a:srgbClr val="FFFFFF"/>
                          </a:solidFill>
                          <a:latin typeface="Arial" pitchFamily="34" charset="0"/>
                          <a:ea typeface="Arial" pitchFamily="34" charset="-122"/>
                          <a:cs typeface="Arial" pitchFamily="34" charset="-120"/>
                        </a:rPr>
                        <a:t>Type</a:t>
                      </a:r>
                      <a:endParaRPr lang="en-US" sz="12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3864"/>
                    </a:solidFill>
                  </a:tcPr>
                </a:tc>
                <a:extLst>
                  <a:ext uri="{0D108BD9-81ED-4DB2-BD59-A6C34878D82A}">
                    <a16:rowId xmlns:a16="http://schemas.microsoft.com/office/drawing/2014/main" val="10000"/>
                  </a:ext>
                </a:extLst>
              </a:tr>
              <a:tr h="292608">
                <a:tc>
                  <a:txBody>
                    <a:bodyPr/>
                    <a:lstStyle/>
                    <a:p>
                      <a:pPr marL="0" indent="0">
                        <a:buNone/>
                      </a:pPr>
                      <a:r>
                        <a:rPr lang="en-US" sz="1200" dirty="0">
                          <a:solidFill>
                            <a:srgbClr val="333333"/>
                          </a:solidFill>
                          <a:latin typeface="Arial" pitchFamily="34" charset="0"/>
                          <a:ea typeface="Arial" pitchFamily="34" charset="-122"/>
                          <a:cs typeface="Arial" pitchFamily="34" charset="-120"/>
                        </a:rPr>
                        <a:t>1</a:t>
                      </a:r>
                      <a:endParaRPr lang="en-US" sz="12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200" b="1" dirty="0">
                          <a:solidFill>
                            <a:srgbClr val="333333"/>
                          </a:solidFill>
                          <a:latin typeface="Arial" pitchFamily="34" charset="0"/>
                          <a:ea typeface="Arial" pitchFamily="34" charset="-122"/>
                          <a:cs typeface="Arial" pitchFamily="34" charset="-120"/>
                        </a:rPr>
                        <a:t>Random Forest</a:t>
                      </a:r>
                      <a:endParaRPr lang="en-US" sz="12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200" b="1" dirty="0">
                          <a:solidFill>
                            <a:srgbClr val="2D8B57"/>
                          </a:solidFill>
                          <a:latin typeface="Arial" pitchFamily="34" charset="0"/>
                          <a:ea typeface="Arial" pitchFamily="34" charset="-122"/>
                          <a:cs typeface="Arial" pitchFamily="34" charset="-120"/>
                        </a:rPr>
                        <a:t>71.2%</a:t>
                      </a:r>
                      <a:endParaRPr lang="en-US" sz="12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200" dirty="0">
                          <a:solidFill>
                            <a:srgbClr val="333333"/>
                          </a:solidFill>
                          <a:latin typeface="Arial" pitchFamily="34" charset="0"/>
                          <a:ea typeface="Arial" pitchFamily="34" charset="-122"/>
                          <a:cs typeface="Arial" pitchFamily="34" charset="-120"/>
                        </a:rPr>
                        <a:t>ML</a:t>
                      </a:r>
                      <a:endParaRPr lang="en-US" sz="12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1"/>
                  </a:ext>
                </a:extLst>
              </a:tr>
              <a:tr h="292608">
                <a:tc>
                  <a:txBody>
                    <a:bodyPr/>
                    <a:lstStyle/>
                    <a:p>
                      <a:pPr marL="0" indent="0">
                        <a:buNone/>
                      </a:pPr>
                      <a:r>
                        <a:rPr lang="en-US" sz="1200" dirty="0">
                          <a:solidFill>
                            <a:srgbClr val="333333"/>
                          </a:solidFill>
                          <a:latin typeface="Arial" pitchFamily="34" charset="0"/>
                          <a:ea typeface="Arial" pitchFamily="34" charset="-122"/>
                          <a:cs typeface="Arial" pitchFamily="34" charset="-120"/>
                        </a:rPr>
                        <a:t>2</a:t>
                      </a:r>
                      <a:endParaRPr lang="en-US" sz="12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200" dirty="0">
                          <a:solidFill>
                            <a:srgbClr val="333333"/>
                          </a:solidFill>
                          <a:latin typeface="Arial" pitchFamily="34" charset="0"/>
                          <a:ea typeface="Arial" pitchFamily="34" charset="-122"/>
                          <a:cs typeface="Arial" pitchFamily="34" charset="-120"/>
                        </a:rPr>
                        <a:t>BARTHAG</a:t>
                      </a:r>
                      <a:endParaRPr lang="en-US" sz="12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200" dirty="0">
                          <a:solidFill>
                            <a:srgbClr val="333333"/>
                          </a:solidFill>
                          <a:latin typeface="Arial" pitchFamily="34" charset="0"/>
                          <a:ea typeface="Arial" pitchFamily="34" charset="-122"/>
                          <a:cs typeface="Arial" pitchFamily="34" charset="-120"/>
                        </a:rPr>
                        <a:t>71.2%</a:t>
                      </a:r>
                      <a:endParaRPr lang="en-US" sz="12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200" dirty="0">
                          <a:solidFill>
                            <a:srgbClr val="333333"/>
                          </a:solidFill>
                          <a:latin typeface="Arial" pitchFamily="34" charset="0"/>
                          <a:ea typeface="Arial" pitchFamily="34" charset="-122"/>
                          <a:cs typeface="Arial" pitchFamily="34" charset="-120"/>
                        </a:rPr>
                        <a:t>Baseline</a:t>
                      </a:r>
                      <a:endParaRPr lang="en-US" sz="12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2"/>
                  </a:ext>
                </a:extLst>
              </a:tr>
              <a:tr h="292608">
                <a:tc>
                  <a:txBody>
                    <a:bodyPr/>
                    <a:lstStyle/>
                    <a:p>
                      <a:pPr marL="0" indent="0">
                        <a:buNone/>
                      </a:pPr>
                      <a:r>
                        <a:rPr lang="en-US" sz="1200" dirty="0">
                          <a:solidFill>
                            <a:srgbClr val="333333"/>
                          </a:solidFill>
                          <a:latin typeface="Arial" pitchFamily="34" charset="0"/>
                          <a:ea typeface="Arial" pitchFamily="34" charset="-122"/>
                          <a:cs typeface="Arial" pitchFamily="34" charset="-120"/>
                        </a:rPr>
                        <a:t>3</a:t>
                      </a:r>
                      <a:endParaRPr lang="en-US" sz="12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200" dirty="0">
                          <a:solidFill>
                            <a:srgbClr val="333333"/>
                          </a:solidFill>
                          <a:latin typeface="Arial" pitchFamily="34" charset="0"/>
                          <a:ea typeface="Arial" pitchFamily="34" charset="-122"/>
                          <a:cs typeface="Arial" pitchFamily="34" charset="-120"/>
                        </a:rPr>
                        <a:t>TR RATING</a:t>
                      </a:r>
                      <a:endParaRPr lang="en-US" sz="12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200" dirty="0">
                          <a:solidFill>
                            <a:srgbClr val="333333"/>
                          </a:solidFill>
                          <a:latin typeface="Arial" pitchFamily="34" charset="0"/>
                          <a:ea typeface="Arial" pitchFamily="34" charset="-122"/>
                          <a:cs typeface="Arial" pitchFamily="34" charset="-120"/>
                        </a:rPr>
                        <a:t>71.2%</a:t>
                      </a:r>
                      <a:endParaRPr lang="en-US" sz="12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200" dirty="0">
                          <a:solidFill>
                            <a:srgbClr val="333333"/>
                          </a:solidFill>
                          <a:latin typeface="Arial" pitchFamily="34" charset="0"/>
                          <a:ea typeface="Arial" pitchFamily="34" charset="-122"/>
                          <a:cs typeface="Arial" pitchFamily="34" charset="-120"/>
                        </a:rPr>
                        <a:t>Baseline</a:t>
                      </a:r>
                      <a:endParaRPr lang="en-US" sz="12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3"/>
                  </a:ext>
                </a:extLst>
              </a:tr>
              <a:tr h="292608">
                <a:tc>
                  <a:txBody>
                    <a:bodyPr/>
                    <a:lstStyle/>
                    <a:p>
                      <a:pPr marL="0" indent="0">
                        <a:buNone/>
                      </a:pPr>
                      <a:r>
                        <a:rPr lang="en-US" sz="1200" dirty="0">
                          <a:solidFill>
                            <a:srgbClr val="333333"/>
                          </a:solidFill>
                          <a:latin typeface="Arial" pitchFamily="34" charset="0"/>
                          <a:ea typeface="Arial" pitchFamily="34" charset="-122"/>
                          <a:cs typeface="Arial" pitchFamily="34" charset="-120"/>
                        </a:rPr>
                        <a:t>4</a:t>
                      </a:r>
                      <a:endParaRPr lang="en-US" sz="12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200" dirty="0">
                          <a:solidFill>
                            <a:srgbClr val="333333"/>
                          </a:solidFill>
                          <a:latin typeface="Arial" pitchFamily="34" charset="0"/>
                          <a:ea typeface="Arial" pitchFamily="34" charset="-122"/>
                          <a:cs typeface="Arial" pitchFamily="34" charset="-120"/>
                        </a:rPr>
                        <a:t>Chalk (Seed)</a:t>
                      </a:r>
                      <a:endParaRPr lang="en-US" sz="12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200" dirty="0">
                          <a:solidFill>
                            <a:srgbClr val="333333"/>
                          </a:solidFill>
                          <a:latin typeface="Arial" pitchFamily="34" charset="0"/>
                          <a:ea typeface="Arial" pitchFamily="34" charset="-122"/>
                          <a:cs typeface="Arial" pitchFamily="34" charset="-120"/>
                        </a:rPr>
                        <a:t>70.9%</a:t>
                      </a:r>
                      <a:endParaRPr lang="en-US" sz="12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200" dirty="0">
                          <a:solidFill>
                            <a:srgbClr val="333333"/>
                          </a:solidFill>
                          <a:latin typeface="Arial" pitchFamily="34" charset="0"/>
                          <a:ea typeface="Arial" pitchFamily="34" charset="-122"/>
                          <a:cs typeface="Arial" pitchFamily="34" charset="-120"/>
                        </a:rPr>
                        <a:t>Baseline</a:t>
                      </a:r>
                      <a:endParaRPr lang="en-US" sz="12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4"/>
                  </a:ext>
                </a:extLst>
              </a:tr>
              <a:tr h="292608">
                <a:tc>
                  <a:txBody>
                    <a:bodyPr/>
                    <a:lstStyle/>
                    <a:p>
                      <a:pPr marL="0" indent="0">
                        <a:buNone/>
                      </a:pPr>
                      <a:r>
                        <a:rPr lang="en-US" sz="1200" dirty="0">
                          <a:solidFill>
                            <a:srgbClr val="333333"/>
                          </a:solidFill>
                          <a:latin typeface="Arial" pitchFamily="34" charset="0"/>
                          <a:ea typeface="Arial" pitchFamily="34" charset="-122"/>
                          <a:cs typeface="Arial" pitchFamily="34" charset="-120"/>
                        </a:rPr>
                        <a:t>5</a:t>
                      </a:r>
                      <a:endParaRPr lang="en-US" sz="12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200" dirty="0">
                          <a:solidFill>
                            <a:srgbClr val="333333"/>
                          </a:solidFill>
                          <a:latin typeface="Arial" pitchFamily="34" charset="0"/>
                          <a:ea typeface="Arial" pitchFamily="34" charset="-122"/>
                          <a:cs typeface="Arial" pitchFamily="34" charset="-120"/>
                        </a:rPr>
                        <a:t>KADJ EM</a:t>
                      </a:r>
                      <a:endParaRPr lang="en-US" sz="12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200" dirty="0">
                          <a:solidFill>
                            <a:srgbClr val="333333"/>
                          </a:solidFill>
                          <a:latin typeface="Arial" pitchFamily="34" charset="0"/>
                          <a:ea typeface="Arial" pitchFamily="34" charset="-122"/>
                          <a:cs typeface="Arial" pitchFamily="34" charset="-120"/>
                        </a:rPr>
                        <a:t>70.9%</a:t>
                      </a:r>
                      <a:endParaRPr lang="en-US" sz="12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200" dirty="0">
                          <a:solidFill>
                            <a:srgbClr val="333333"/>
                          </a:solidFill>
                          <a:latin typeface="Arial" pitchFamily="34" charset="0"/>
                          <a:ea typeface="Arial" pitchFamily="34" charset="-122"/>
                          <a:cs typeface="Arial" pitchFamily="34" charset="-120"/>
                        </a:rPr>
                        <a:t>Baseline</a:t>
                      </a:r>
                      <a:endParaRPr lang="en-US" sz="12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5"/>
                  </a:ext>
                </a:extLst>
              </a:tr>
              <a:tr h="292608">
                <a:tc>
                  <a:txBody>
                    <a:bodyPr/>
                    <a:lstStyle/>
                    <a:p>
                      <a:pPr marL="0" indent="0">
                        <a:buNone/>
                      </a:pPr>
                      <a:r>
                        <a:rPr lang="en-US" sz="1200" dirty="0">
                          <a:solidFill>
                            <a:srgbClr val="333333"/>
                          </a:solidFill>
                          <a:latin typeface="Arial" pitchFamily="34" charset="0"/>
                          <a:ea typeface="Arial" pitchFamily="34" charset="-122"/>
                          <a:cs typeface="Arial" pitchFamily="34" charset="-120"/>
                        </a:rPr>
                        <a:t>6</a:t>
                      </a:r>
                      <a:endParaRPr lang="en-US" sz="12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200" dirty="0">
                          <a:solidFill>
                            <a:srgbClr val="333333"/>
                          </a:solidFill>
                          <a:latin typeface="Arial" pitchFamily="34" charset="0"/>
                          <a:ea typeface="Arial" pitchFamily="34" charset="-122"/>
                          <a:cs typeface="Arial" pitchFamily="34" charset="-120"/>
                        </a:rPr>
                        <a:t>XGBoost (reg.)</a:t>
                      </a:r>
                      <a:endParaRPr lang="en-US" sz="12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200" dirty="0">
                          <a:solidFill>
                            <a:srgbClr val="333333"/>
                          </a:solidFill>
                          <a:latin typeface="Arial" pitchFamily="34" charset="0"/>
                          <a:ea typeface="Arial" pitchFamily="34" charset="-122"/>
                          <a:cs typeface="Arial" pitchFamily="34" charset="-120"/>
                        </a:rPr>
                        <a:t>69.9%</a:t>
                      </a:r>
                      <a:endParaRPr lang="en-US" sz="12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200" dirty="0">
                          <a:solidFill>
                            <a:srgbClr val="333333"/>
                          </a:solidFill>
                          <a:latin typeface="Arial" pitchFamily="34" charset="0"/>
                          <a:ea typeface="Arial" pitchFamily="34" charset="-122"/>
                          <a:cs typeface="Arial" pitchFamily="34" charset="-120"/>
                        </a:rPr>
                        <a:t>ML</a:t>
                      </a:r>
                      <a:endParaRPr lang="en-US" sz="12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6"/>
                  </a:ext>
                </a:extLst>
              </a:tr>
              <a:tr h="292608">
                <a:tc>
                  <a:txBody>
                    <a:bodyPr/>
                    <a:lstStyle/>
                    <a:p>
                      <a:pPr marL="0" indent="0">
                        <a:buNone/>
                      </a:pPr>
                      <a:r>
                        <a:rPr lang="en-US" sz="1200" dirty="0">
                          <a:solidFill>
                            <a:srgbClr val="333333"/>
                          </a:solidFill>
                          <a:latin typeface="Arial" pitchFamily="34" charset="0"/>
                          <a:ea typeface="Arial" pitchFamily="34" charset="-122"/>
                          <a:cs typeface="Arial" pitchFamily="34" charset="-120"/>
                        </a:rPr>
                        <a:t>7</a:t>
                      </a:r>
                      <a:endParaRPr lang="en-US" sz="12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200" b="1" dirty="0">
                          <a:solidFill>
                            <a:srgbClr val="C0392B"/>
                          </a:solidFill>
                          <a:latin typeface="Arial" pitchFamily="34" charset="0"/>
                          <a:ea typeface="Arial" pitchFamily="34" charset="-122"/>
                          <a:cs typeface="Arial" pitchFamily="34" charset="-120"/>
                        </a:rPr>
                        <a:t>Vegas Favorite</a:t>
                      </a:r>
                      <a:endParaRPr lang="en-US" sz="12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200" dirty="0">
                          <a:solidFill>
                            <a:srgbClr val="C0392B"/>
                          </a:solidFill>
                          <a:latin typeface="Arial" pitchFamily="34" charset="0"/>
                          <a:ea typeface="Arial" pitchFamily="34" charset="-122"/>
                          <a:cs typeface="Arial" pitchFamily="34" charset="-120"/>
                        </a:rPr>
                        <a:t>69.9%</a:t>
                      </a:r>
                      <a:endParaRPr lang="en-US" sz="12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200" dirty="0">
                          <a:solidFill>
                            <a:srgbClr val="333333"/>
                          </a:solidFill>
                          <a:latin typeface="Arial" pitchFamily="34" charset="0"/>
                          <a:ea typeface="Arial" pitchFamily="34" charset="-122"/>
                          <a:cs typeface="Arial" pitchFamily="34" charset="-120"/>
                        </a:rPr>
                        <a:t>External</a:t>
                      </a:r>
                      <a:endParaRPr lang="en-US" sz="12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7"/>
                  </a:ext>
                </a:extLst>
              </a:tr>
              <a:tr h="292608">
                <a:tc>
                  <a:txBody>
                    <a:bodyPr/>
                    <a:lstStyle/>
                    <a:p>
                      <a:pPr marL="0" indent="0">
                        <a:buNone/>
                      </a:pPr>
                      <a:r>
                        <a:rPr lang="en-US" sz="1200" dirty="0">
                          <a:solidFill>
                            <a:srgbClr val="333333"/>
                          </a:solidFill>
                          <a:latin typeface="Arial" pitchFamily="34" charset="0"/>
                          <a:ea typeface="Arial" pitchFamily="34" charset="-122"/>
                          <a:cs typeface="Arial" pitchFamily="34" charset="-120"/>
                        </a:rPr>
                        <a:t>8</a:t>
                      </a:r>
                      <a:endParaRPr lang="en-US" sz="12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200" dirty="0">
                          <a:solidFill>
                            <a:srgbClr val="333333"/>
                          </a:solidFill>
                          <a:latin typeface="Arial" pitchFamily="34" charset="0"/>
                          <a:ea typeface="Arial" pitchFamily="34" charset="-122"/>
                          <a:cs typeface="Arial" pitchFamily="34" charset="-120"/>
                        </a:rPr>
                        <a:t>Neural Net</a:t>
                      </a:r>
                      <a:endParaRPr lang="en-US" sz="12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200" dirty="0">
                          <a:solidFill>
                            <a:srgbClr val="333333"/>
                          </a:solidFill>
                          <a:latin typeface="Arial" pitchFamily="34" charset="0"/>
                          <a:ea typeface="Arial" pitchFamily="34" charset="-122"/>
                          <a:cs typeface="Arial" pitchFamily="34" charset="-120"/>
                        </a:rPr>
                        <a:t>67.0%</a:t>
                      </a:r>
                      <a:endParaRPr lang="en-US" sz="12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200" dirty="0">
                          <a:solidFill>
                            <a:srgbClr val="333333"/>
                          </a:solidFill>
                          <a:latin typeface="Arial" pitchFamily="34" charset="0"/>
                          <a:ea typeface="Arial" pitchFamily="34" charset="-122"/>
                          <a:cs typeface="Arial" pitchFamily="34" charset="-120"/>
                        </a:rPr>
                        <a:t>ML</a:t>
                      </a:r>
                      <a:endParaRPr lang="en-US" sz="12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
        <p:nvSpPr>
          <p:cNvPr id="5" name="Shape 2"/>
          <p:cNvSpPr/>
          <p:nvPr/>
        </p:nvSpPr>
        <p:spPr>
          <a:xfrm>
            <a:off x="731520" y="4297680"/>
            <a:ext cx="7680960" cy="640080"/>
          </a:xfrm>
          <a:prstGeom prst="rect">
            <a:avLst/>
          </a:prstGeom>
          <a:solidFill>
            <a:srgbClr val="F2F2F2"/>
          </a:solidFill>
          <a:ln/>
        </p:spPr>
        <p:txBody>
          <a:bodyPr/>
          <a:lstStyle/>
          <a:p>
            <a:endParaRPr lang="en-US"/>
          </a:p>
        </p:txBody>
      </p:sp>
      <p:sp>
        <p:nvSpPr>
          <p:cNvPr id="6" name="Text 3"/>
          <p:cNvSpPr/>
          <p:nvPr/>
        </p:nvSpPr>
        <p:spPr>
          <a:xfrm>
            <a:off x="914400" y="4297680"/>
            <a:ext cx="7315200" cy="640080"/>
          </a:xfrm>
          <a:prstGeom prst="rect">
            <a:avLst/>
          </a:prstGeom>
          <a:noFill/>
          <a:ln/>
        </p:spPr>
        <p:txBody>
          <a:bodyPr wrap="square" rtlCol="0" anchor="ctr"/>
          <a:lstStyle/>
          <a:p>
            <a:pPr marL="0" indent="0">
              <a:buNone/>
            </a:pPr>
            <a:r>
              <a:rPr lang="en-US" sz="1400" b="1" dirty="0">
                <a:solidFill>
                  <a:srgbClr val="1F3864"/>
                </a:solidFill>
                <a:latin typeface="Arial" pitchFamily="34" charset="0"/>
                <a:ea typeface="Arial" pitchFamily="34" charset="-122"/>
                <a:cs typeface="Arial" pitchFamily="34" charset="-120"/>
              </a:rPr>
              <a:t>All methods converge on 67–72%. Vegas closing lines finish 7th. But accuracy is misleading; is there a way to beat Vegas on where it’s optimized (money line)?</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520" y="365760"/>
            <a:ext cx="7680960" cy="548640"/>
          </a:xfrm>
          <a:prstGeom prst="rect">
            <a:avLst/>
          </a:prstGeom>
          <a:noFill/>
          <a:ln/>
        </p:spPr>
        <p:txBody>
          <a:bodyPr wrap="square" rtlCol="0" anchor="ctr"/>
          <a:lstStyle/>
          <a:p>
            <a:pPr marL="0" indent="0">
              <a:buNone/>
            </a:pPr>
            <a:r>
              <a:rPr lang="en-US" sz="2800" b="1" dirty="0">
                <a:solidFill>
                  <a:srgbClr val="1F3864"/>
                </a:solidFill>
                <a:latin typeface="Arial Black" pitchFamily="34" charset="0"/>
                <a:ea typeface="Arial Black" pitchFamily="34" charset="-122"/>
                <a:cs typeface="Arial Black" pitchFamily="34" charset="-120"/>
              </a:rPr>
              <a:t>BEATING VEGAS - GAME-LEVEL UNDERDOG BETTING (2021-2025)</a:t>
            </a:r>
            <a:endParaRPr lang="en-US" sz="2800" dirty="0"/>
          </a:p>
        </p:txBody>
      </p:sp>
      <p:sp>
        <p:nvSpPr>
          <p:cNvPr id="3" name="Text 1"/>
          <p:cNvSpPr/>
          <p:nvPr/>
        </p:nvSpPr>
        <p:spPr>
          <a:xfrm>
            <a:off x="731520" y="1162596"/>
            <a:ext cx="7680960" cy="457200"/>
          </a:xfrm>
          <a:prstGeom prst="rect">
            <a:avLst/>
          </a:prstGeom>
          <a:noFill/>
          <a:ln/>
        </p:spPr>
        <p:txBody>
          <a:bodyPr wrap="square" rtlCol="0" anchor="ctr"/>
          <a:lstStyle/>
          <a:p>
            <a:pPr marL="0" indent="0">
              <a:buNone/>
            </a:pPr>
            <a:r>
              <a:rPr lang="en-US" sz="1300" dirty="0">
                <a:solidFill>
                  <a:srgbClr val="666666"/>
                </a:solidFill>
                <a:latin typeface="Arial" pitchFamily="34" charset="0"/>
                <a:ea typeface="Arial" pitchFamily="34" charset="-122"/>
                <a:cs typeface="Arial" pitchFamily="34" charset="-120"/>
              </a:rPr>
              <a:t>Strategy: When a model disagrees with Vegas, bet $100 on the model’s pick at underdog money line odds.</a:t>
            </a:r>
            <a:endParaRPr lang="en-US" sz="1300" dirty="0"/>
          </a:p>
        </p:txBody>
      </p:sp>
      <p:graphicFrame>
        <p:nvGraphicFramePr>
          <p:cNvPr id="8" name="Table 0"/>
          <p:cNvGraphicFramePr>
            <a:graphicFrameLocks noGrp="1"/>
          </p:cNvGraphicFramePr>
          <p:nvPr>
            <p:extLst>
              <p:ext uri="{D42A27DB-BD31-4B8C-83A1-F6EECF244321}">
                <p14:modId xmlns:p14="http://schemas.microsoft.com/office/powerpoint/2010/main" val="1101892589"/>
              </p:ext>
            </p:extLst>
          </p:nvPr>
        </p:nvGraphicFramePr>
        <p:xfrm>
          <a:off x="731520" y="1711236"/>
          <a:ext cx="5943600" cy="1783080"/>
        </p:xfrm>
        <a:graphic>
          <a:graphicData uri="http://schemas.openxmlformats.org/drawingml/2006/table">
            <a:tbl>
              <a:tblPr/>
              <a:tblGrid>
                <a:gridCol w="201168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gridCol w="822960">
                  <a:extLst>
                    <a:ext uri="{9D8B030D-6E8A-4147-A177-3AD203B41FA5}">
                      <a16:colId xmlns:a16="http://schemas.microsoft.com/office/drawing/2014/main" val="20002"/>
                    </a:ext>
                  </a:extLst>
                </a:gridCol>
                <a:gridCol w="1005840">
                  <a:extLst>
                    <a:ext uri="{9D8B030D-6E8A-4147-A177-3AD203B41FA5}">
                      <a16:colId xmlns:a16="http://schemas.microsoft.com/office/drawing/2014/main" val="20003"/>
                    </a:ext>
                  </a:extLst>
                </a:gridCol>
                <a:gridCol w="1280160">
                  <a:extLst>
                    <a:ext uri="{9D8B030D-6E8A-4147-A177-3AD203B41FA5}">
                      <a16:colId xmlns:a16="http://schemas.microsoft.com/office/drawing/2014/main" val="20004"/>
                    </a:ext>
                  </a:extLst>
                </a:gridCol>
              </a:tblGrid>
              <a:tr h="320040">
                <a:tc>
                  <a:txBody>
                    <a:bodyPr/>
                    <a:lstStyle/>
                    <a:p>
                      <a:pPr marL="0" indent="0">
                        <a:buNone/>
                      </a:pPr>
                      <a:r>
                        <a:rPr lang="en-US" sz="1200" b="1" dirty="0">
                          <a:solidFill>
                            <a:srgbClr val="FFFFFF"/>
                          </a:solidFill>
                          <a:latin typeface="Arial" pitchFamily="34" charset="0"/>
                          <a:ea typeface="Arial" pitchFamily="34" charset="-122"/>
                          <a:cs typeface="Arial" pitchFamily="34" charset="-120"/>
                        </a:rPr>
                        <a:t>Method</a:t>
                      </a:r>
                      <a:endParaRPr lang="en-US" sz="12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3864"/>
                    </a:solidFill>
                  </a:tcPr>
                </a:tc>
                <a:tc>
                  <a:txBody>
                    <a:bodyPr/>
                    <a:lstStyle/>
                    <a:p>
                      <a:pPr marL="0" indent="0">
                        <a:buNone/>
                      </a:pPr>
                      <a:r>
                        <a:rPr lang="en-US" sz="1200" b="1" dirty="0">
                          <a:solidFill>
                            <a:srgbClr val="FFFFFF"/>
                          </a:solidFill>
                          <a:latin typeface="Arial" pitchFamily="34" charset="0"/>
                          <a:ea typeface="Arial" pitchFamily="34" charset="-122"/>
                          <a:cs typeface="Arial" pitchFamily="34" charset="-120"/>
                        </a:rPr>
                        <a:t>Bets</a:t>
                      </a:r>
                      <a:endParaRPr lang="en-US" sz="12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3864"/>
                    </a:solidFill>
                  </a:tcPr>
                </a:tc>
                <a:tc>
                  <a:txBody>
                    <a:bodyPr/>
                    <a:lstStyle/>
                    <a:p>
                      <a:pPr marL="0" indent="0">
                        <a:buNone/>
                      </a:pPr>
                      <a:r>
                        <a:rPr lang="en-US" sz="1200" b="1" dirty="0">
                          <a:solidFill>
                            <a:srgbClr val="FFFFFF"/>
                          </a:solidFill>
                          <a:latin typeface="Arial" pitchFamily="34" charset="0"/>
                          <a:ea typeface="Arial" pitchFamily="34" charset="-122"/>
                          <a:cs typeface="Arial" pitchFamily="34" charset="-120"/>
                        </a:rPr>
                        <a:t>Wins</a:t>
                      </a:r>
                      <a:endParaRPr lang="en-US" sz="12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3864"/>
                    </a:solidFill>
                  </a:tcPr>
                </a:tc>
                <a:tc>
                  <a:txBody>
                    <a:bodyPr/>
                    <a:lstStyle/>
                    <a:p>
                      <a:pPr marL="0" indent="0">
                        <a:buNone/>
                      </a:pPr>
                      <a:r>
                        <a:rPr lang="en-US" sz="1200" b="1" dirty="0">
                          <a:solidFill>
                            <a:srgbClr val="FFFFFF"/>
                          </a:solidFill>
                          <a:latin typeface="Arial" pitchFamily="34" charset="0"/>
                          <a:ea typeface="Arial" pitchFamily="34" charset="-122"/>
                          <a:cs typeface="Arial" pitchFamily="34" charset="-120"/>
                        </a:rPr>
                        <a:t>Win %</a:t>
                      </a:r>
                      <a:endParaRPr lang="en-US" sz="12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3864"/>
                    </a:solidFill>
                  </a:tcPr>
                </a:tc>
                <a:tc>
                  <a:txBody>
                    <a:bodyPr/>
                    <a:lstStyle/>
                    <a:p>
                      <a:pPr marL="0" indent="0">
                        <a:buNone/>
                      </a:pPr>
                      <a:r>
                        <a:rPr lang="en-US" sz="1200" b="1" dirty="0">
                          <a:solidFill>
                            <a:srgbClr val="FFFFFF"/>
                          </a:solidFill>
                          <a:latin typeface="Arial" pitchFamily="34" charset="0"/>
                          <a:ea typeface="Arial" pitchFamily="34" charset="-122"/>
                          <a:cs typeface="Arial" pitchFamily="34" charset="-120"/>
                        </a:rPr>
                        <a:t>Profit</a:t>
                      </a:r>
                      <a:endParaRPr lang="en-US" sz="12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3864"/>
                    </a:solidFill>
                  </a:tcPr>
                </a:tc>
                <a:extLst>
                  <a:ext uri="{0D108BD9-81ED-4DB2-BD59-A6C34878D82A}">
                    <a16:rowId xmlns:a16="http://schemas.microsoft.com/office/drawing/2014/main" val="10000"/>
                  </a:ext>
                </a:extLst>
              </a:tr>
              <a:tr h="292608">
                <a:tc>
                  <a:txBody>
                    <a:bodyPr/>
                    <a:lstStyle/>
                    <a:p>
                      <a:pPr marL="0" indent="0">
                        <a:buNone/>
                      </a:pPr>
                      <a:r>
                        <a:rPr lang="en-US" sz="1200" b="1" dirty="0">
                          <a:solidFill>
                            <a:srgbClr val="333333"/>
                          </a:solidFill>
                          <a:latin typeface="Arial" pitchFamily="34" charset="0"/>
                          <a:ea typeface="Arial" pitchFamily="34" charset="-122"/>
                          <a:cs typeface="Arial" pitchFamily="34" charset="-120"/>
                        </a:rPr>
                        <a:t>Random Forest</a:t>
                      </a:r>
                      <a:endParaRPr lang="en-US" sz="12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200" dirty="0">
                          <a:solidFill>
                            <a:srgbClr val="333333"/>
                          </a:solidFill>
                          <a:latin typeface="Arial" pitchFamily="34" charset="0"/>
                          <a:ea typeface="Arial" pitchFamily="34" charset="-122"/>
                          <a:cs typeface="Arial" pitchFamily="34" charset="-120"/>
                        </a:rPr>
                        <a:t>32</a:t>
                      </a:r>
                      <a:endParaRPr lang="en-US" sz="12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200" dirty="0">
                          <a:solidFill>
                            <a:srgbClr val="333333"/>
                          </a:solidFill>
                          <a:latin typeface="Arial" pitchFamily="34" charset="0"/>
                          <a:ea typeface="Arial" pitchFamily="34" charset="-122"/>
                          <a:cs typeface="Arial" pitchFamily="34" charset="-120"/>
                        </a:rPr>
                        <a:t>18</a:t>
                      </a:r>
                      <a:endParaRPr lang="en-US" sz="12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200" dirty="0">
                          <a:solidFill>
                            <a:srgbClr val="333333"/>
                          </a:solidFill>
                          <a:latin typeface="Arial" pitchFamily="34" charset="0"/>
                          <a:ea typeface="Arial" pitchFamily="34" charset="-122"/>
                          <a:cs typeface="Arial" pitchFamily="34" charset="-120"/>
                        </a:rPr>
                        <a:t>56.2%</a:t>
                      </a:r>
                      <a:endParaRPr lang="en-US" sz="12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200" b="1" dirty="0">
                          <a:solidFill>
                            <a:srgbClr val="2D8B57"/>
                          </a:solidFill>
                          <a:latin typeface="Arial" pitchFamily="34" charset="0"/>
                          <a:ea typeface="Arial" pitchFamily="34" charset="-122"/>
                          <a:cs typeface="Arial" pitchFamily="34" charset="-120"/>
                        </a:rPr>
                        <a:t>+$955</a:t>
                      </a:r>
                      <a:endParaRPr lang="en-US" sz="12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1"/>
                  </a:ext>
                </a:extLst>
              </a:tr>
              <a:tr h="292608">
                <a:tc>
                  <a:txBody>
                    <a:bodyPr/>
                    <a:lstStyle/>
                    <a:p>
                      <a:pPr marL="0" indent="0">
                        <a:buNone/>
                      </a:pPr>
                      <a:r>
                        <a:rPr lang="en-US" sz="1200" dirty="0">
                          <a:solidFill>
                            <a:srgbClr val="333333"/>
                          </a:solidFill>
                          <a:latin typeface="Arial" pitchFamily="34" charset="0"/>
                          <a:ea typeface="Arial" pitchFamily="34" charset="-122"/>
                          <a:cs typeface="Arial" pitchFamily="34" charset="-120"/>
                        </a:rPr>
                        <a:t>TR RATING</a:t>
                      </a:r>
                      <a:endParaRPr lang="en-US" sz="12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200" dirty="0">
                          <a:solidFill>
                            <a:srgbClr val="333333"/>
                          </a:solidFill>
                          <a:latin typeface="Arial" pitchFamily="34" charset="0"/>
                          <a:ea typeface="Arial" pitchFamily="34" charset="-122"/>
                          <a:cs typeface="Arial" pitchFamily="34" charset="-120"/>
                        </a:rPr>
                        <a:t>18</a:t>
                      </a:r>
                      <a:endParaRPr lang="en-US" sz="12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200" dirty="0">
                          <a:solidFill>
                            <a:srgbClr val="333333"/>
                          </a:solidFill>
                          <a:latin typeface="Arial" pitchFamily="34" charset="0"/>
                          <a:ea typeface="Arial" pitchFamily="34" charset="-122"/>
                          <a:cs typeface="Arial" pitchFamily="34" charset="-120"/>
                        </a:rPr>
                        <a:t>11</a:t>
                      </a:r>
                      <a:endParaRPr lang="en-US" sz="12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200" dirty="0">
                          <a:solidFill>
                            <a:srgbClr val="333333"/>
                          </a:solidFill>
                          <a:latin typeface="Arial" pitchFamily="34" charset="0"/>
                          <a:ea typeface="Arial" pitchFamily="34" charset="-122"/>
                          <a:cs typeface="Arial" pitchFamily="34" charset="-120"/>
                        </a:rPr>
                        <a:t>61.1%</a:t>
                      </a:r>
                      <a:endParaRPr lang="en-US" sz="12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200" dirty="0">
                          <a:solidFill>
                            <a:srgbClr val="2D8B57"/>
                          </a:solidFill>
                          <a:latin typeface="Arial" pitchFamily="34" charset="0"/>
                          <a:ea typeface="Arial" pitchFamily="34" charset="-122"/>
                          <a:cs typeface="Arial" pitchFamily="34" charset="-120"/>
                        </a:rPr>
                        <a:t>+$650</a:t>
                      </a:r>
                      <a:endParaRPr lang="en-US" sz="12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2"/>
                  </a:ext>
                </a:extLst>
              </a:tr>
              <a:tr h="292608">
                <a:tc>
                  <a:txBody>
                    <a:bodyPr/>
                    <a:lstStyle/>
                    <a:p>
                      <a:pPr marL="0" indent="0">
                        <a:buNone/>
                      </a:pPr>
                      <a:r>
                        <a:rPr lang="en-US" sz="1200" dirty="0">
                          <a:solidFill>
                            <a:srgbClr val="333333"/>
                          </a:solidFill>
                          <a:latin typeface="Arial" pitchFamily="34" charset="0"/>
                          <a:ea typeface="Arial" pitchFamily="34" charset="-122"/>
                          <a:cs typeface="Arial" pitchFamily="34" charset="-120"/>
                        </a:rPr>
                        <a:t>KADJ EM</a:t>
                      </a:r>
                      <a:endParaRPr lang="en-US" sz="12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200" dirty="0">
                          <a:solidFill>
                            <a:srgbClr val="333333"/>
                          </a:solidFill>
                          <a:latin typeface="Arial" pitchFamily="34" charset="0"/>
                          <a:ea typeface="Arial" pitchFamily="34" charset="-122"/>
                          <a:cs typeface="Arial" pitchFamily="34" charset="-120"/>
                        </a:rPr>
                        <a:t>21</a:t>
                      </a:r>
                      <a:endParaRPr lang="en-US" sz="12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200" dirty="0">
                          <a:solidFill>
                            <a:srgbClr val="333333"/>
                          </a:solidFill>
                          <a:latin typeface="Arial" pitchFamily="34" charset="0"/>
                          <a:ea typeface="Arial" pitchFamily="34" charset="-122"/>
                          <a:cs typeface="Arial" pitchFamily="34" charset="-120"/>
                        </a:rPr>
                        <a:t>12</a:t>
                      </a:r>
                      <a:endParaRPr lang="en-US" sz="12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200" dirty="0">
                          <a:solidFill>
                            <a:srgbClr val="333333"/>
                          </a:solidFill>
                          <a:latin typeface="Arial" pitchFamily="34" charset="0"/>
                          <a:ea typeface="Arial" pitchFamily="34" charset="-122"/>
                          <a:cs typeface="Arial" pitchFamily="34" charset="-120"/>
                        </a:rPr>
                        <a:t>57.1%</a:t>
                      </a:r>
                      <a:endParaRPr lang="en-US" sz="12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200" dirty="0">
                          <a:solidFill>
                            <a:srgbClr val="2D8B57"/>
                          </a:solidFill>
                          <a:latin typeface="Arial" pitchFamily="34" charset="0"/>
                          <a:ea typeface="Arial" pitchFamily="34" charset="-122"/>
                          <a:cs typeface="Arial" pitchFamily="34" charset="-120"/>
                        </a:rPr>
                        <a:t>+$550</a:t>
                      </a:r>
                      <a:endParaRPr lang="en-US" sz="12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3"/>
                  </a:ext>
                </a:extLst>
              </a:tr>
              <a:tr h="292608">
                <a:tc>
                  <a:txBody>
                    <a:bodyPr/>
                    <a:lstStyle/>
                    <a:p>
                      <a:pPr marL="0" indent="0">
                        <a:buNone/>
                      </a:pPr>
                      <a:r>
                        <a:rPr lang="en-US" sz="1200" dirty="0">
                          <a:solidFill>
                            <a:srgbClr val="333333"/>
                          </a:solidFill>
                          <a:latin typeface="Arial" pitchFamily="34" charset="0"/>
                          <a:ea typeface="Arial" pitchFamily="34" charset="-122"/>
                          <a:cs typeface="Arial" pitchFamily="34" charset="-120"/>
                        </a:rPr>
                        <a:t>XGBoost (reg.)</a:t>
                      </a:r>
                      <a:endParaRPr lang="en-US" sz="12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200" dirty="0">
                          <a:solidFill>
                            <a:srgbClr val="333333"/>
                          </a:solidFill>
                          <a:latin typeface="Arial" pitchFamily="34" charset="0"/>
                          <a:ea typeface="Arial" pitchFamily="34" charset="-122"/>
                          <a:cs typeface="Arial" pitchFamily="34" charset="-120"/>
                        </a:rPr>
                        <a:t>34</a:t>
                      </a:r>
                      <a:endParaRPr lang="en-US" sz="12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200" dirty="0">
                          <a:solidFill>
                            <a:srgbClr val="333333"/>
                          </a:solidFill>
                          <a:latin typeface="Arial" pitchFamily="34" charset="0"/>
                          <a:ea typeface="Arial" pitchFamily="34" charset="-122"/>
                          <a:cs typeface="Arial" pitchFamily="34" charset="-120"/>
                        </a:rPr>
                        <a:t>17</a:t>
                      </a:r>
                      <a:endParaRPr lang="en-US" sz="12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200" dirty="0">
                          <a:solidFill>
                            <a:srgbClr val="333333"/>
                          </a:solidFill>
                          <a:latin typeface="Arial" pitchFamily="34" charset="0"/>
                          <a:ea typeface="Arial" pitchFamily="34" charset="-122"/>
                          <a:cs typeface="Arial" pitchFamily="34" charset="-120"/>
                        </a:rPr>
                        <a:t>50.0%</a:t>
                      </a:r>
                      <a:endParaRPr lang="en-US" sz="12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200" dirty="0">
                          <a:solidFill>
                            <a:srgbClr val="2D8B57"/>
                          </a:solidFill>
                          <a:latin typeface="Arial" pitchFamily="34" charset="0"/>
                          <a:ea typeface="Arial" pitchFamily="34" charset="-122"/>
                          <a:cs typeface="Arial" pitchFamily="34" charset="-120"/>
                        </a:rPr>
                        <a:t>+$570</a:t>
                      </a:r>
                      <a:endParaRPr lang="en-US" sz="12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4"/>
                  </a:ext>
                </a:extLst>
              </a:tr>
              <a:tr h="292608">
                <a:tc>
                  <a:txBody>
                    <a:bodyPr/>
                    <a:lstStyle/>
                    <a:p>
                      <a:pPr marL="0" indent="0">
                        <a:buNone/>
                      </a:pPr>
                      <a:r>
                        <a:rPr lang="en-US" sz="1200" dirty="0">
                          <a:solidFill>
                            <a:srgbClr val="333333"/>
                          </a:solidFill>
                          <a:latin typeface="Arial" pitchFamily="34" charset="0"/>
                          <a:ea typeface="Arial" pitchFamily="34" charset="-122"/>
                          <a:cs typeface="Arial" pitchFamily="34" charset="-120"/>
                        </a:rPr>
                        <a:t>Neural Net</a:t>
                      </a:r>
                      <a:endParaRPr lang="en-US" sz="12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200" dirty="0">
                          <a:solidFill>
                            <a:srgbClr val="333333"/>
                          </a:solidFill>
                          <a:latin typeface="Arial" pitchFamily="34" charset="0"/>
                          <a:ea typeface="Arial" pitchFamily="34" charset="-122"/>
                          <a:cs typeface="Arial" pitchFamily="34" charset="-120"/>
                        </a:rPr>
                        <a:t>41</a:t>
                      </a:r>
                      <a:endParaRPr lang="en-US" sz="12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200" dirty="0">
                          <a:solidFill>
                            <a:srgbClr val="333333"/>
                          </a:solidFill>
                          <a:latin typeface="Arial" pitchFamily="34" charset="0"/>
                          <a:ea typeface="Arial" pitchFamily="34" charset="-122"/>
                          <a:cs typeface="Arial" pitchFamily="34" charset="-120"/>
                        </a:rPr>
                        <a:t>16</a:t>
                      </a:r>
                      <a:endParaRPr lang="en-US" sz="12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200" dirty="0">
                          <a:solidFill>
                            <a:srgbClr val="333333"/>
                          </a:solidFill>
                          <a:latin typeface="Arial" pitchFamily="34" charset="0"/>
                          <a:ea typeface="Arial" pitchFamily="34" charset="-122"/>
                          <a:cs typeface="Arial" pitchFamily="34" charset="-120"/>
                        </a:rPr>
                        <a:t>39.0%</a:t>
                      </a:r>
                      <a:endParaRPr lang="en-US" sz="12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200" dirty="0">
                          <a:solidFill>
                            <a:srgbClr val="C0392B"/>
                          </a:solidFill>
                          <a:latin typeface="Arial" pitchFamily="34" charset="0"/>
                          <a:ea typeface="Arial" pitchFamily="34" charset="-122"/>
                          <a:cs typeface="Arial" pitchFamily="34" charset="-120"/>
                        </a:rPr>
                        <a:t>–$220</a:t>
                      </a:r>
                      <a:endParaRPr lang="en-US" sz="12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5" name="Text 2"/>
          <p:cNvSpPr/>
          <p:nvPr/>
        </p:nvSpPr>
        <p:spPr>
          <a:xfrm>
            <a:off x="731520" y="3631476"/>
            <a:ext cx="7680960" cy="457200"/>
          </a:xfrm>
          <a:prstGeom prst="rect">
            <a:avLst/>
          </a:prstGeom>
          <a:noFill/>
          <a:ln/>
        </p:spPr>
        <p:txBody>
          <a:bodyPr wrap="square" rtlCol="0" anchor="ctr"/>
          <a:lstStyle/>
          <a:p>
            <a:pPr marL="0" indent="0">
              <a:buNone/>
            </a:pPr>
            <a:r>
              <a:rPr lang="en-US" sz="1800" b="1" dirty="0">
                <a:solidFill>
                  <a:srgbClr val="2D8B57"/>
                </a:solidFill>
                <a:latin typeface="Arial" pitchFamily="34" charset="0"/>
                <a:ea typeface="Arial" pitchFamily="34" charset="-122"/>
                <a:cs typeface="Arial" pitchFamily="34" charset="-120"/>
              </a:rPr>
              <a:t>4 of 5 methods are profitable against Vegas.</a:t>
            </a:r>
            <a:endParaRPr lang="en-US" sz="1800" dirty="0"/>
          </a:p>
        </p:txBody>
      </p:sp>
      <p:sp>
        <p:nvSpPr>
          <p:cNvPr id="6" name="Text 3"/>
          <p:cNvSpPr/>
          <p:nvPr/>
        </p:nvSpPr>
        <p:spPr>
          <a:xfrm>
            <a:off x="731520" y="4088676"/>
            <a:ext cx="7680960" cy="731520"/>
          </a:xfrm>
          <a:prstGeom prst="rect">
            <a:avLst/>
          </a:prstGeom>
          <a:noFill/>
          <a:ln/>
        </p:spPr>
        <p:txBody>
          <a:bodyPr wrap="square" rtlCol="0" anchor="ctr"/>
          <a:lstStyle/>
          <a:p>
            <a:pPr marL="0" indent="0">
              <a:buNone/>
            </a:pPr>
            <a:r>
              <a:rPr lang="en-US" sz="1300" dirty="0">
                <a:solidFill>
                  <a:srgbClr val="333333"/>
                </a:solidFill>
                <a:latin typeface="Arial" pitchFamily="34" charset="0"/>
                <a:ea typeface="Arial" pitchFamily="34" charset="-122"/>
                <a:cs typeface="Arial" pitchFamily="34" charset="-120"/>
              </a:rPr>
              <a:t>The edge exists despite Vegas optimizing for point spreads, with two baseline and two machine learning models outperforming Vegas in simulated bets.</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0">
    <p:bg>
      <p:bgPr>
        <a:solidFill>
          <a:srgbClr val="1A1A2E"/>
        </a:solidFill>
        <a:effectLst/>
      </p:bgPr>
    </p:bg>
    <p:spTree>
      <p:nvGrpSpPr>
        <p:cNvPr id="1" name=""/>
        <p:cNvGrpSpPr/>
        <p:nvPr/>
      </p:nvGrpSpPr>
      <p:grpSpPr>
        <a:xfrm>
          <a:off x="0" y="0"/>
          <a:ext cx="0" cy="0"/>
          <a:chOff x="0" y="0"/>
          <a:chExt cx="0" cy="0"/>
        </a:xfrm>
      </p:grpSpPr>
      <p:sp>
        <p:nvSpPr>
          <p:cNvPr id="2" name="Text 0"/>
          <p:cNvSpPr/>
          <p:nvPr/>
        </p:nvSpPr>
        <p:spPr>
          <a:xfrm>
            <a:off x="731520" y="310896"/>
            <a:ext cx="7680960" cy="548640"/>
          </a:xfrm>
          <a:prstGeom prst="rect">
            <a:avLst/>
          </a:prstGeom>
          <a:noFill/>
          <a:ln/>
        </p:spPr>
        <p:txBody>
          <a:bodyPr wrap="square" rtlCol="0" anchor="ctr"/>
          <a:lstStyle/>
          <a:p>
            <a:pPr marL="0" indent="0">
              <a:buNone/>
            </a:pPr>
            <a:r>
              <a:rPr lang="en-US" sz="3200" b="1" dirty="0">
                <a:solidFill>
                  <a:srgbClr val="FFFFFF"/>
                </a:solidFill>
                <a:latin typeface="Arial Black" pitchFamily="34" charset="0"/>
                <a:ea typeface="Arial Black" pitchFamily="34" charset="-122"/>
                <a:cs typeface="Arial Black" pitchFamily="34" charset="-120"/>
              </a:rPr>
              <a:t>LIMITATIONS</a:t>
            </a:r>
            <a:endParaRPr lang="en-US" sz="3200" dirty="0"/>
          </a:p>
        </p:txBody>
      </p:sp>
      <p:sp>
        <p:nvSpPr>
          <p:cNvPr id="7" name="Shape 1">
            <a:extLst>
              <a:ext uri="{FF2B5EF4-FFF2-40B4-BE49-F238E27FC236}">
                <a16:creationId xmlns:a16="http://schemas.microsoft.com/office/drawing/2014/main" id="{A8E4F5A3-E170-473E-E93B-A32B30683BE3}"/>
              </a:ext>
            </a:extLst>
          </p:cNvPr>
          <p:cNvSpPr/>
          <p:nvPr/>
        </p:nvSpPr>
        <p:spPr>
          <a:xfrm>
            <a:off x="731520" y="1097280"/>
            <a:ext cx="7680960" cy="1097280"/>
          </a:xfrm>
          <a:prstGeom prst="rect">
            <a:avLst/>
          </a:prstGeom>
          <a:solidFill>
            <a:srgbClr val="2A2A3E"/>
          </a:solidFill>
          <a:ln/>
          <a:effectLst>
            <a:outerShdw blurRad="50800" dist="25400" dir="8100000" algn="bl" rotWithShape="0">
              <a:srgbClr val="000000">
                <a:alpha val="12000"/>
              </a:srgbClr>
            </a:outerShdw>
          </a:effectLst>
        </p:spPr>
        <p:txBody>
          <a:bodyPr/>
          <a:lstStyle/>
          <a:p>
            <a:endParaRPr lang="en-US"/>
          </a:p>
        </p:txBody>
      </p:sp>
      <p:sp>
        <p:nvSpPr>
          <p:cNvPr id="8" name="Text 3">
            <a:extLst>
              <a:ext uri="{FF2B5EF4-FFF2-40B4-BE49-F238E27FC236}">
                <a16:creationId xmlns:a16="http://schemas.microsoft.com/office/drawing/2014/main" id="{275B35DF-E339-5048-B343-1148A8D84378}"/>
              </a:ext>
            </a:extLst>
          </p:cNvPr>
          <p:cNvSpPr/>
          <p:nvPr/>
        </p:nvSpPr>
        <p:spPr>
          <a:xfrm>
            <a:off x="1005840" y="1170432"/>
            <a:ext cx="7223760" cy="320040"/>
          </a:xfrm>
          <a:prstGeom prst="rect">
            <a:avLst/>
          </a:prstGeom>
          <a:noFill/>
          <a:ln/>
        </p:spPr>
        <p:txBody>
          <a:bodyPr wrap="square" rtlCol="0" anchor="ctr"/>
          <a:lstStyle/>
          <a:p>
            <a:pPr marL="0" indent="0">
              <a:buNone/>
            </a:pPr>
            <a:r>
              <a:rPr lang="en-US" sz="1500" b="1" dirty="0">
                <a:solidFill>
                  <a:srgbClr val="E8833A"/>
                </a:solidFill>
                <a:latin typeface="Arial" pitchFamily="34" charset="0"/>
                <a:ea typeface="Arial" pitchFamily="34" charset="-122"/>
                <a:cs typeface="Arial" pitchFamily="34" charset="-120"/>
              </a:rPr>
              <a:t>What our models can’t capture</a:t>
            </a:r>
            <a:endParaRPr lang="en-US" sz="1500" dirty="0"/>
          </a:p>
        </p:txBody>
      </p:sp>
      <p:sp>
        <p:nvSpPr>
          <p:cNvPr id="9" name="Text 4">
            <a:extLst>
              <a:ext uri="{FF2B5EF4-FFF2-40B4-BE49-F238E27FC236}">
                <a16:creationId xmlns:a16="http://schemas.microsoft.com/office/drawing/2014/main" id="{098E53E9-C798-68AC-B4B0-718612B70A43}"/>
              </a:ext>
            </a:extLst>
          </p:cNvPr>
          <p:cNvSpPr/>
          <p:nvPr/>
        </p:nvSpPr>
        <p:spPr>
          <a:xfrm>
            <a:off x="1005840" y="1481328"/>
            <a:ext cx="7223760" cy="640080"/>
          </a:xfrm>
          <a:prstGeom prst="rect">
            <a:avLst/>
          </a:prstGeom>
          <a:noFill/>
          <a:ln/>
        </p:spPr>
        <p:txBody>
          <a:bodyPr wrap="square" rtlCol="0" anchor="t"/>
          <a:lstStyle/>
          <a:p>
            <a:pPr marL="0" indent="0">
              <a:buNone/>
            </a:pPr>
            <a:r>
              <a:rPr lang="en-US" sz="1200" dirty="0">
                <a:solidFill>
                  <a:srgbClr val="CCCCCC"/>
                </a:solidFill>
                <a:latin typeface="Arial" pitchFamily="34" charset="0"/>
                <a:ea typeface="Arial" pitchFamily="34" charset="-122"/>
                <a:cs typeface="Arial" pitchFamily="34" charset="-120"/>
              </a:rPr>
              <a:t>Injuries, coaching adjustments, travel fatigue, or the psychological dynamics of single-elimination play. The 2023 tournament demonstrates how March Madness has an irreducible randomness floor.</a:t>
            </a:r>
            <a:endParaRPr lang="en-US" sz="1200" dirty="0"/>
          </a:p>
        </p:txBody>
      </p:sp>
      <p:sp>
        <p:nvSpPr>
          <p:cNvPr id="10" name="Shape 5">
            <a:extLst>
              <a:ext uri="{FF2B5EF4-FFF2-40B4-BE49-F238E27FC236}">
                <a16:creationId xmlns:a16="http://schemas.microsoft.com/office/drawing/2014/main" id="{543B62B9-7424-4EB3-D022-77BD8F2FD442}"/>
              </a:ext>
            </a:extLst>
          </p:cNvPr>
          <p:cNvSpPr/>
          <p:nvPr/>
        </p:nvSpPr>
        <p:spPr>
          <a:xfrm>
            <a:off x="731520" y="2377440"/>
            <a:ext cx="7680960" cy="1097280"/>
          </a:xfrm>
          <a:prstGeom prst="rect">
            <a:avLst/>
          </a:prstGeom>
          <a:solidFill>
            <a:srgbClr val="2A2A3E"/>
          </a:solidFill>
          <a:ln/>
          <a:effectLst>
            <a:outerShdw blurRad="50800" dist="25400" dir="8100000" algn="bl" rotWithShape="0">
              <a:srgbClr val="000000">
                <a:alpha val="12000"/>
              </a:srgbClr>
            </a:outerShdw>
          </a:effectLst>
        </p:spPr>
        <p:txBody>
          <a:bodyPr/>
          <a:lstStyle/>
          <a:p>
            <a:endParaRPr lang="en-US"/>
          </a:p>
        </p:txBody>
      </p:sp>
      <p:sp>
        <p:nvSpPr>
          <p:cNvPr id="11" name="Text 7">
            <a:extLst>
              <a:ext uri="{FF2B5EF4-FFF2-40B4-BE49-F238E27FC236}">
                <a16:creationId xmlns:a16="http://schemas.microsoft.com/office/drawing/2014/main" id="{D50F76E1-09F5-5EA3-7BE6-D255D55B3F4F}"/>
              </a:ext>
            </a:extLst>
          </p:cNvPr>
          <p:cNvSpPr/>
          <p:nvPr/>
        </p:nvSpPr>
        <p:spPr>
          <a:xfrm>
            <a:off x="1005840" y="2450592"/>
            <a:ext cx="7223760" cy="320040"/>
          </a:xfrm>
          <a:prstGeom prst="rect">
            <a:avLst/>
          </a:prstGeom>
          <a:noFill/>
          <a:ln/>
        </p:spPr>
        <p:txBody>
          <a:bodyPr wrap="square" rtlCol="0" anchor="ctr"/>
          <a:lstStyle/>
          <a:p>
            <a:pPr marL="0" indent="0">
              <a:buNone/>
            </a:pPr>
            <a:r>
              <a:rPr lang="en-US" sz="1500" b="1" dirty="0">
                <a:solidFill>
                  <a:srgbClr val="E8833A"/>
                </a:solidFill>
                <a:latin typeface="Arial" pitchFamily="34" charset="0"/>
                <a:ea typeface="Arial" pitchFamily="34" charset="-122"/>
                <a:cs typeface="Arial" pitchFamily="34" charset="-120"/>
              </a:rPr>
              <a:t>Small sample sizes</a:t>
            </a:r>
            <a:endParaRPr lang="en-US" sz="1500" dirty="0"/>
          </a:p>
        </p:txBody>
      </p:sp>
      <p:sp>
        <p:nvSpPr>
          <p:cNvPr id="12" name="Text 8">
            <a:extLst>
              <a:ext uri="{FF2B5EF4-FFF2-40B4-BE49-F238E27FC236}">
                <a16:creationId xmlns:a16="http://schemas.microsoft.com/office/drawing/2014/main" id="{7EBE19C5-F9F9-2979-C1B2-E845A3CE8942}"/>
              </a:ext>
            </a:extLst>
          </p:cNvPr>
          <p:cNvSpPr/>
          <p:nvPr/>
        </p:nvSpPr>
        <p:spPr>
          <a:xfrm>
            <a:off x="1005840" y="2761488"/>
            <a:ext cx="7223760" cy="640080"/>
          </a:xfrm>
          <a:prstGeom prst="rect">
            <a:avLst/>
          </a:prstGeom>
          <a:noFill/>
          <a:ln/>
        </p:spPr>
        <p:txBody>
          <a:bodyPr wrap="square" rtlCol="0" anchor="t"/>
          <a:lstStyle/>
          <a:p>
            <a:pPr marL="0" indent="0">
              <a:buNone/>
            </a:pPr>
            <a:r>
              <a:rPr lang="en-US" sz="1200" dirty="0">
                <a:solidFill>
                  <a:srgbClr val="CCCCCC"/>
                </a:solidFill>
                <a:latin typeface="Arial" pitchFamily="34" charset="0"/>
                <a:ea typeface="Arial" pitchFamily="34" charset="-122"/>
                <a:cs typeface="Arial" pitchFamily="34" charset="-120"/>
              </a:rPr>
              <a:t>The spread betting ROI uses 18–41 bets per method with wide confidence intervals. The futures analysis covers only five out-of-sample years.</a:t>
            </a:r>
            <a:endParaRPr lang="en-US" sz="1200" dirty="0"/>
          </a:p>
        </p:txBody>
      </p:sp>
      <p:sp>
        <p:nvSpPr>
          <p:cNvPr id="13" name="Shape 9">
            <a:extLst>
              <a:ext uri="{FF2B5EF4-FFF2-40B4-BE49-F238E27FC236}">
                <a16:creationId xmlns:a16="http://schemas.microsoft.com/office/drawing/2014/main" id="{920B7D70-ECE7-9073-2C63-1DF58D8A6C5D}"/>
              </a:ext>
            </a:extLst>
          </p:cNvPr>
          <p:cNvSpPr/>
          <p:nvPr/>
        </p:nvSpPr>
        <p:spPr>
          <a:xfrm>
            <a:off x="731520" y="3657600"/>
            <a:ext cx="7680960" cy="1097280"/>
          </a:xfrm>
          <a:prstGeom prst="rect">
            <a:avLst/>
          </a:prstGeom>
          <a:solidFill>
            <a:srgbClr val="2A2A3E"/>
          </a:solidFill>
          <a:ln/>
          <a:effectLst>
            <a:outerShdw blurRad="50800" dist="25400" dir="8100000" algn="bl" rotWithShape="0">
              <a:srgbClr val="000000">
                <a:alpha val="12000"/>
              </a:srgbClr>
            </a:outerShdw>
          </a:effectLst>
        </p:spPr>
        <p:txBody>
          <a:bodyPr/>
          <a:lstStyle/>
          <a:p>
            <a:endParaRPr lang="en-US"/>
          </a:p>
        </p:txBody>
      </p:sp>
      <p:sp>
        <p:nvSpPr>
          <p:cNvPr id="14" name="Text 11">
            <a:extLst>
              <a:ext uri="{FF2B5EF4-FFF2-40B4-BE49-F238E27FC236}">
                <a16:creationId xmlns:a16="http://schemas.microsoft.com/office/drawing/2014/main" id="{FE8E6430-C72A-BB12-BF2D-8E5ED2CE180C}"/>
              </a:ext>
            </a:extLst>
          </p:cNvPr>
          <p:cNvSpPr/>
          <p:nvPr/>
        </p:nvSpPr>
        <p:spPr>
          <a:xfrm>
            <a:off x="1005840" y="3730752"/>
            <a:ext cx="7223760" cy="320040"/>
          </a:xfrm>
          <a:prstGeom prst="rect">
            <a:avLst/>
          </a:prstGeom>
          <a:noFill/>
          <a:ln/>
        </p:spPr>
        <p:txBody>
          <a:bodyPr wrap="square" rtlCol="0" anchor="ctr"/>
          <a:lstStyle/>
          <a:p>
            <a:pPr marL="0" indent="0">
              <a:buNone/>
            </a:pPr>
            <a:r>
              <a:rPr lang="en-US" sz="1500" b="1" dirty="0">
                <a:solidFill>
                  <a:srgbClr val="E8833A"/>
                </a:solidFill>
                <a:latin typeface="Arial" pitchFamily="34" charset="0"/>
                <a:ea typeface="Arial" pitchFamily="34" charset="-122"/>
                <a:cs typeface="Arial" pitchFamily="34" charset="-120"/>
              </a:rPr>
              <a:t>Pre-COVID training, post-COVID testing</a:t>
            </a:r>
            <a:endParaRPr lang="en-US" sz="1500" dirty="0"/>
          </a:p>
        </p:txBody>
      </p:sp>
      <p:sp>
        <p:nvSpPr>
          <p:cNvPr id="15" name="Text 12">
            <a:extLst>
              <a:ext uri="{FF2B5EF4-FFF2-40B4-BE49-F238E27FC236}">
                <a16:creationId xmlns:a16="http://schemas.microsoft.com/office/drawing/2014/main" id="{E2BB34A3-8B76-3BA6-986A-C69B3B50C8AA}"/>
              </a:ext>
            </a:extLst>
          </p:cNvPr>
          <p:cNvSpPr/>
          <p:nvPr/>
        </p:nvSpPr>
        <p:spPr>
          <a:xfrm>
            <a:off x="1005840" y="4041648"/>
            <a:ext cx="7223760" cy="640080"/>
          </a:xfrm>
          <a:prstGeom prst="rect">
            <a:avLst/>
          </a:prstGeom>
          <a:noFill/>
          <a:ln/>
        </p:spPr>
        <p:txBody>
          <a:bodyPr wrap="square" rtlCol="0" anchor="t"/>
          <a:lstStyle/>
          <a:p>
            <a:pPr marL="0" indent="0">
              <a:buNone/>
            </a:pPr>
            <a:r>
              <a:rPr lang="en-US" sz="1200" dirty="0">
                <a:solidFill>
                  <a:srgbClr val="CCCCCC"/>
                </a:solidFill>
                <a:latin typeface="Arial" pitchFamily="34" charset="0"/>
                <a:ea typeface="Arial" pitchFamily="34" charset="-122"/>
                <a:cs typeface="Arial" pitchFamily="34" charset="-120"/>
              </a:rPr>
              <a:t>Our temporal split means ML models trained on 2008–2019 are evaluated on 2021–2025. Our models and approaches may be learning partially outdated patterns that don’t reflect more recent changes in basketball strategy.</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1">
    <p:bg>
      <p:bgPr>
        <a:solidFill>
          <a:srgbClr val="1F3864"/>
        </a:solidFill>
        <a:effectLst/>
      </p:bgPr>
    </p:bg>
    <p:spTree>
      <p:nvGrpSpPr>
        <p:cNvPr id="1" name=""/>
        <p:cNvGrpSpPr/>
        <p:nvPr/>
      </p:nvGrpSpPr>
      <p:grpSpPr>
        <a:xfrm>
          <a:off x="0" y="0"/>
          <a:ext cx="0" cy="0"/>
          <a:chOff x="0" y="0"/>
          <a:chExt cx="0" cy="0"/>
        </a:xfrm>
      </p:grpSpPr>
      <p:sp>
        <p:nvSpPr>
          <p:cNvPr id="2" name="Text 0"/>
          <p:cNvSpPr/>
          <p:nvPr/>
        </p:nvSpPr>
        <p:spPr>
          <a:xfrm>
            <a:off x="731520" y="914400"/>
            <a:ext cx="7680960" cy="731520"/>
          </a:xfrm>
          <a:prstGeom prst="rect">
            <a:avLst/>
          </a:prstGeom>
          <a:noFill/>
          <a:ln/>
        </p:spPr>
        <p:txBody>
          <a:bodyPr wrap="square" rtlCol="0" anchor="ctr"/>
          <a:lstStyle/>
          <a:p>
            <a:pPr marL="0" indent="0" algn="ctr">
              <a:buNone/>
            </a:pPr>
            <a:r>
              <a:rPr lang="en-US" sz="4000" dirty="0">
                <a:solidFill>
                  <a:srgbClr val="FFFFFF"/>
                </a:solidFill>
                <a:latin typeface="Arial Black" pitchFamily="34" charset="0"/>
                <a:ea typeface="Arial Black" pitchFamily="34" charset="-122"/>
                <a:cs typeface="Arial Black" pitchFamily="34" charset="-120"/>
              </a:rPr>
              <a:t>TEAM ASA</a:t>
            </a:r>
            <a:endParaRPr lang="en-US" sz="4000" dirty="0"/>
          </a:p>
        </p:txBody>
      </p:sp>
      <p:sp>
        <p:nvSpPr>
          <p:cNvPr id="3" name="Text 1"/>
          <p:cNvSpPr/>
          <p:nvPr/>
        </p:nvSpPr>
        <p:spPr>
          <a:xfrm>
            <a:off x="1828800" y="2011680"/>
            <a:ext cx="5486400" cy="365760"/>
          </a:xfrm>
          <a:prstGeom prst="rect">
            <a:avLst/>
          </a:prstGeom>
          <a:noFill/>
          <a:ln/>
        </p:spPr>
        <p:txBody>
          <a:bodyPr wrap="square"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Anokh Palakurthi</a:t>
            </a:r>
            <a:endParaRPr lang="en-US" sz="1800" dirty="0"/>
          </a:p>
        </p:txBody>
      </p:sp>
      <p:sp>
        <p:nvSpPr>
          <p:cNvPr id="4" name="Text 2"/>
          <p:cNvSpPr/>
          <p:nvPr/>
        </p:nvSpPr>
        <p:spPr>
          <a:xfrm>
            <a:off x="1828800" y="2331720"/>
            <a:ext cx="5486400" cy="274320"/>
          </a:xfrm>
          <a:prstGeom prst="rect">
            <a:avLst/>
          </a:prstGeom>
          <a:noFill/>
          <a:ln/>
        </p:spPr>
        <p:txBody>
          <a:bodyPr wrap="square" rtlCol="0" anchor="ctr"/>
          <a:lstStyle/>
          <a:p>
            <a:pPr marL="0" indent="0" algn="ctr">
              <a:buNone/>
            </a:pPr>
            <a:r>
              <a:rPr lang="en-US" sz="1200" dirty="0">
                <a:solidFill>
                  <a:srgbClr val="8888AA"/>
                </a:solidFill>
                <a:latin typeface="Arial" pitchFamily="34" charset="0"/>
                <a:ea typeface="Arial" pitchFamily="34" charset="-122"/>
                <a:cs typeface="Arial" pitchFamily="34" charset="-120"/>
              </a:rPr>
              <a:t>MS Business Analytics ’26  |  appkea1012@brandeis.edu</a:t>
            </a:r>
            <a:endParaRPr lang="en-US" sz="1200" dirty="0"/>
          </a:p>
        </p:txBody>
      </p:sp>
      <p:sp>
        <p:nvSpPr>
          <p:cNvPr id="5" name="Text 3"/>
          <p:cNvSpPr/>
          <p:nvPr/>
        </p:nvSpPr>
        <p:spPr>
          <a:xfrm>
            <a:off x="1828800" y="2926080"/>
            <a:ext cx="5486400" cy="365760"/>
          </a:xfrm>
          <a:prstGeom prst="rect">
            <a:avLst/>
          </a:prstGeom>
          <a:noFill/>
          <a:ln/>
        </p:spPr>
        <p:txBody>
          <a:bodyPr wrap="square"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Samiya Islam</a:t>
            </a:r>
            <a:endParaRPr lang="en-US" sz="1800" dirty="0"/>
          </a:p>
        </p:txBody>
      </p:sp>
      <p:sp>
        <p:nvSpPr>
          <p:cNvPr id="6" name="Text 4"/>
          <p:cNvSpPr/>
          <p:nvPr/>
        </p:nvSpPr>
        <p:spPr>
          <a:xfrm>
            <a:off x="1828800" y="3246120"/>
            <a:ext cx="5486400" cy="274320"/>
          </a:xfrm>
          <a:prstGeom prst="rect">
            <a:avLst/>
          </a:prstGeom>
          <a:noFill/>
          <a:ln/>
        </p:spPr>
        <p:txBody>
          <a:bodyPr wrap="square" rtlCol="0" anchor="ctr"/>
          <a:lstStyle/>
          <a:p>
            <a:pPr marL="0" indent="0" algn="ctr">
              <a:buNone/>
            </a:pPr>
            <a:r>
              <a:rPr lang="en-US" sz="1200" dirty="0">
                <a:solidFill>
                  <a:srgbClr val="8888AA"/>
                </a:solidFill>
                <a:latin typeface="Arial" pitchFamily="34" charset="0"/>
                <a:ea typeface="Arial" pitchFamily="34" charset="-122"/>
                <a:cs typeface="Arial" pitchFamily="34" charset="-120"/>
              </a:rPr>
              <a:t>MS Business Analytics ’26  |  samiyaislam@brandeis.edu</a:t>
            </a:r>
            <a:endParaRPr lang="en-US" sz="1200" dirty="0"/>
          </a:p>
        </p:txBody>
      </p:sp>
      <p:sp>
        <p:nvSpPr>
          <p:cNvPr id="7" name="Text 5"/>
          <p:cNvSpPr/>
          <p:nvPr/>
        </p:nvSpPr>
        <p:spPr>
          <a:xfrm>
            <a:off x="1828800" y="3840480"/>
            <a:ext cx="5486400" cy="365760"/>
          </a:xfrm>
          <a:prstGeom prst="rect">
            <a:avLst/>
          </a:prstGeom>
          <a:noFill/>
          <a:ln/>
        </p:spPr>
        <p:txBody>
          <a:bodyPr wrap="square"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Aastha Chavan</a:t>
            </a:r>
            <a:endParaRPr lang="en-US" sz="1800" dirty="0"/>
          </a:p>
        </p:txBody>
      </p:sp>
      <p:sp>
        <p:nvSpPr>
          <p:cNvPr id="8" name="Text 6"/>
          <p:cNvSpPr/>
          <p:nvPr/>
        </p:nvSpPr>
        <p:spPr>
          <a:xfrm>
            <a:off x="1828800" y="4160520"/>
            <a:ext cx="5486400" cy="274320"/>
          </a:xfrm>
          <a:prstGeom prst="rect">
            <a:avLst/>
          </a:prstGeom>
          <a:noFill/>
          <a:ln/>
        </p:spPr>
        <p:txBody>
          <a:bodyPr wrap="square" rtlCol="0" anchor="ctr"/>
          <a:lstStyle/>
          <a:p>
            <a:pPr marL="0" indent="0" algn="ctr">
              <a:buNone/>
            </a:pPr>
            <a:r>
              <a:rPr lang="en-US" sz="1200" dirty="0">
                <a:solidFill>
                  <a:srgbClr val="8888AA"/>
                </a:solidFill>
                <a:latin typeface="Arial" pitchFamily="34" charset="0"/>
                <a:ea typeface="Arial" pitchFamily="34" charset="-122"/>
                <a:cs typeface="Arial" pitchFamily="34" charset="-120"/>
              </a:rPr>
              <a:t>MS Business Analytics ’26  |  aasthachavan@brandeis.edu</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1383</TotalTime>
  <Words>1758</Words>
  <Application>Microsoft Macintosh PowerPoint</Application>
  <PresentationFormat>On-screen Show (16:9)</PresentationFormat>
  <Paragraphs>203</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Arial Black</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How to Make Money and Lose Friends Betting on College Basketball</dc:title>
  <dc:subject>PptxGenJS Presentation</dc:subject>
  <dc:creator>Team ASA</dc:creator>
  <cp:lastModifiedBy>Anokh Palakurthi</cp:lastModifiedBy>
  <cp:revision>32</cp:revision>
  <dcterms:created xsi:type="dcterms:W3CDTF">2026-03-23T02:02:45Z</dcterms:created>
  <dcterms:modified xsi:type="dcterms:W3CDTF">2026-03-24T11:03:18Z</dcterms:modified>
</cp:coreProperties>
</file>